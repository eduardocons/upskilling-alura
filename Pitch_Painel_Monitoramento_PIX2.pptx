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theme/theme2.xml" ContentType="application/vnd.openxmlformats-officedocument.theme+xml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Masters/slideMaster1.xml" ContentType="application/vnd.openxmlformats-officedocument.presentationml.slide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slideLayouts/slideLayout1.xml" ContentType="application/vnd.openxmlformats-officedocument.presentationml.slideLayout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</p:sldIdLst>
  <p:sldSz cx="9144000" cy="5143500"/>
  <p:notesSz cx="5143500" cy="9144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Clique para mover o slide</a:t>
            </a:r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pt-B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Clique para editar o formato de notas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1CE32C56-9F4F-4E74-B962-E7D3380AA7BE}" type="slidenum"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PlaceHolder 1"/>
          <p:cNvSpPr>
            <a:spLocks noGrp="1"/>
          </p:cNvSpPr>
          <p:nvPr>
            <p:ph type="sldImg"/>
          </p:nvPr>
        </p:nvSpPr>
        <p:spPr>
          <a:xfrm>
            <a:off x="-17136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14" name="PlaceHolder 2"/>
          <p:cNvSpPr>
            <a:spLocks noGrp="1"/>
          </p:cNvSpPr>
          <p:nvPr>
            <p:ph type="body"/>
          </p:nvPr>
        </p:nvSpPr>
        <p:spPr>
          <a:xfrm>
            <a:off x="514440" y="4400640"/>
            <a:ext cx="41144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pt-BR" sz="1200" b="1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"Eu gostaria de começar com uma pergunta simples: o que é confiança?"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pt-BR" sz="1200" b="0" i="1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(pausa de 2 a 3 segundos)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pt-BR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Confiança é a segurança de que podemos contar com algo ou com alguém. É acreditar que aquilo que vemos corresponde ao que realmente acontece.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pt-BR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Pense em uma relação pessoal. Confiamos em alguém quando a pessoa é </a:t>
            </a:r>
            <a:r>
              <a:rPr lang="pt-BR" sz="1200" b="1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coerente</a:t>
            </a:r>
            <a:r>
              <a:rPr lang="pt-BR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, quando o que ela diz bate com o que ela faz. Confiamos quando ela é </a:t>
            </a:r>
            <a:r>
              <a:rPr lang="pt-BR" sz="1200" b="1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transparente</a:t>
            </a:r>
            <a:r>
              <a:rPr lang="pt-BR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 e não esconde informações importantes. E confiamos quando ela é </a:t>
            </a:r>
            <a:r>
              <a:rPr lang="pt-BR" sz="1200" b="1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consistente</a:t>
            </a:r>
            <a:r>
              <a:rPr lang="pt-BR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, quando podemos contar com ela hoje, amanhã e quando surge um problema.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pt-BR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Mas existe uma característica da confiança que todos conhecemos: </a:t>
            </a:r>
            <a:r>
              <a:rPr lang="pt-BR" sz="1200" b="1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ela leva tempo para ser construída e pode ser abalada por uma única falha.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pt-BR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Para um banco, isso é ainda mais forte. Confiança não é apenas um valor. </a:t>
            </a:r>
            <a:r>
              <a:rPr lang="pt-BR" sz="1200" b="1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É a base do nosso negócio.</a:t>
            </a:r>
            <a:r>
              <a:rPr lang="pt-BR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 O cliente confia que o seu dinheiro estará seguro, que a transação vai acontecer e que o banco vai responder quando algo der errado.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pt-BR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E aqui vem uma questão importante: </a:t>
            </a:r>
            <a:r>
              <a:rPr lang="pt-BR" sz="1200" b="1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para merecer a confiança do cliente, primeiro precisamos confiar nos nossos próprios dados.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pt-BR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Porque nenhuma decisão é melhor do que a informação que a sustenta.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" name="PlaceHolder 3"/>
          <p:cNvSpPr>
            <a:spLocks noGrp="1"/>
          </p:cNvSpPr>
          <p:nvPr>
            <p:ph type="sldNum" idx="4"/>
          </p:nvPr>
        </p:nvSpPr>
        <p:spPr>
          <a:xfrm>
            <a:off x="2913120" y="8685360"/>
            <a:ext cx="222840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01676EE7-096A-477B-84C9-01A4C454DA8F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PlaceHolder 1"/>
          <p:cNvSpPr>
            <a:spLocks noGrp="1"/>
          </p:cNvSpPr>
          <p:nvPr>
            <p:ph type="sldImg"/>
          </p:nvPr>
        </p:nvSpPr>
        <p:spPr>
          <a:xfrm>
            <a:off x="-17136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17" name="PlaceHolder 2"/>
          <p:cNvSpPr>
            <a:spLocks noGrp="1"/>
          </p:cNvSpPr>
          <p:nvPr>
            <p:ph type="body"/>
          </p:nvPr>
        </p:nvSpPr>
        <p:spPr>
          <a:xfrm>
            <a:off x="514440" y="4400640"/>
            <a:ext cx="41144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pt-BR" sz="1200" b="1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"Eu gostaria de começar com uma pergunta simples: o que é confiança?"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pt-BR" sz="1200" b="0" i="1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(pausa de 2 a 3 segundos)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pt-BR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Confiança é a segurança de que podemos contar com algo ou com alguém. É acreditar que aquilo que vemos corresponde ao que realmente acontece.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pt-BR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Pense em uma relação pessoal. Confiamos em alguém quando a pessoa é </a:t>
            </a:r>
            <a:r>
              <a:rPr lang="pt-BR" sz="1200" b="1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coerente</a:t>
            </a:r>
            <a:r>
              <a:rPr lang="pt-BR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, quando o que ela diz bate com o que ela faz. Confiamos quando ela é </a:t>
            </a:r>
            <a:r>
              <a:rPr lang="pt-BR" sz="1200" b="1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consistente</a:t>
            </a:r>
            <a:r>
              <a:rPr lang="pt-BR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, quando podemos contar com ela hoje, amanhã e quando surge um problema.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pt-BR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Mas existe uma característica da confiança que todos conhecemos: </a:t>
            </a:r>
            <a:r>
              <a:rPr lang="pt-BR" sz="1200" b="1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ela leva tempo para ser construída e pode ser abalada por uma única falha.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pt-BR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Para um banco, isso é ainda mais forte. Confiança não é apenas um valor. </a:t>
            </a:r>
            <a:r>
              <a:rPr lang="pt-BR" sz="1200" b="1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É a base do nosso negócio.</a:t>
            </a:r>
            <a:r>
              <a:rPr lang="pt-BR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 O cliente confia que o seu dinheiro estará seguro, que a transação vai acontecer e que o banco vai responder quando algo der errado.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pt-BR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E aqui vem uma questão importante: </a:t>
            </a:r>
            <a:r>
              <a:rPr lang="pt-BR" sz="1200" b="1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para merecer a confiança do cliente, primeiro precisamos confiar nos nossos próprios dados.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pt-BR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Porque nenhuma decisão é melhor do que a informação que a sustenta.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pt-BR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Então eu pergunto: </a:t>
            </a:r>
            <a:r>
              <a:rPr lang="pt-BR" sz="1200" b="1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hoje, como está o cenário nas transações PIX na construção dessa confiança?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" name="PlaceHolder 3"/>
          <p:cNvSpPr>
            <a:spLocks noGrp="1"/>
          </p:cNvSpPr>
          <p:nvPr>
            <p:ph type="sldNum" idx="5"/>
          </p:nvPr>
        </p:nvSpPr>
        <p:spPr>
          <a:xfrm>
            <a:off x="2913120" y="8685360"/>
            <a:ext cx="222840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A46060C2-370B-47E9-8D6F-EA96E58EAC29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PlaceHolder 1"/>
          <p:cNvSpPr>
            <a:spLocks noGrp="1"/>
          </p:cNvSpPr>
          <p:nvPr>
            <p:ph type="sldImg"/>
          </p:nvPr>
        </p:nvSpPr>
        <p:spPr>
          <a:xfrm>
            <a:off x="-17136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20" name="PlaceHolder 2"/>
          <p:cNvSpPr>
            <a:spLocks noGrp="1"/>
          </p:cNvSpPr>
          <p:nvPr>
            <p:ph type="body"/>
          </p:nvPr>
        </p:nvSpPr>
        <p:spPr>
          <a:xfrm>
            <a:off x="514440" y="4400640"/>
            <a:ext cx="41144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HOOK (sem apresentar grupo nem ferramenta). Comece em silêncio, olhando para a banca, e faça a pergunta central. Em seguida solte a provocação: 'Hoje, a CAIXA não enxerga 36% das rejeições PIX, nem quais agências deixam de crescer em chaves.' Não explique ainda — deixe a dor assentar por 3 segundos.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[Sources]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Contexto do Painel de Monitoramento PIX (PRD, ideação e evolução v0–v3); roteiro do Pitch_Impacto_Aula_Gabarito_5_Slides.pptx. Visual on this slide was generated with Microsoft Copilot.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" name="PlaceHolder 3"/>
          <p:cNvSpPr>
            <a:spLocks noGrp="1"/>
          </p:cNvSpPr>
          <p:nvPr>
            <p:ph type="sldNum" idx="6"/>
          </p:nvPr>
        </p:nvSpPr>
        <p:spPr>
          <a:xfrm>
            <a:off x="2913120" y="8685360"/>
            <a:ext cx="222840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1DACED83-4C89-4903-A40F-80256330AB4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PlaceHolder 1"/>
          <p:cNvSpPr>
            <a:spLocks noGrp="1"/>
          </p:cNvSpPr>
          <p:nvPr>
            <p:ph type="sldImg"/>
          </p:nvPr>
        </p:nvSpPr>
        <p:spPr>
          <a:xfrm>
            <a:off x="-17136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23" name="PlaceHolder 2"/>
          <p:cNvSpPr>
            <a:spLocks noGrp="1"/>
          </p:cNvSpPr>
          <p:nvPr>
            <p:ph type="body"/>
          </p:nvPr>
        </p:nvSpPr>
        <p:spPr>
          <a:xfrm>
            <a:off x="514440" y="4400640"/>
            <a:ext cx="41144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Quem sofre: a gestão do PIX corporativo, que precisa de 8 indicadores prioritários (TMO), e as agências, que não enxergam a carteira PIX. Por que a liderança deve se importar: o PIX é indutor de relacionamento, depósito à vista e receita, e agências de mesmo porte têm percentuais muito diferentes de clientes com chave na CAIXA. O AS-IS mostra que o problema também era de leitura: 2,6 bi de linhas na rejeitada, consultas de 30 s a 2 min e JOIN com timeout (exigindo driver de 32 GB).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[Sources] Contexto do Painel de Monitoramento PIX (PRD, ideação e evolução v0–v3); roteiro do Pitch_Impacto_Aula_Gabarito_5_Slides.pptx.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" name="PlaceHolder 3"/>
          <p:cNvSpPr>
            <a:spLocks noGrp="1"/>
          </p:cNvSpPr>
          <p:nvPr>
            <p:ph type="sldNum" idx="7"/>
          </p:nvPr>
        </p:nvSpPr>
        <p:spPr>
          <a:xfrm>
            <a:off x="2913120" y="8685360"/>
            <a:ext cx="222840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DA3B4B62-43FB-43C1-AD0C-A9864C574A8F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laceHolder 1"/>
          <p:cNvSpPr>
            <a:spLocks noGrp="1"/>
          </p:cNvSpPr>
          <p:nvPr>
            <p:ph type="sldImg"/>
          </p:nvPr>
        </p:nvSpPr>
        <p:spPr>
          <a:xfrm>
            <a:off x="-17136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26" name="PlaceHolder 2"/>
          <p:cNvSpPr>
            <a:spLocks noGrp="1"/>
          </p:cNvSpPr>
          <p:nvPr>
            <p:ph type="body"/>
          </p:nvPr>
        </p:nvSpPr>
        <p:spPr>
          <a:xfrm>
            <a:off x="514440" y="4400640"/>
            <a:ext cx="41144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DEMONSTRE: fonte única spitb008 → Cam1 (todas as transações, denominador) → Cam2 (rejeições preservadas com LEFT JOIN) → job automático → dashboard. Sugestão: se possível, faça demonstração ao vivo da página Taxa de Insucesso, sem narrar cada clique. Destaque o momento em que o LEFT JOIN preserva as rejeições.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ATENÇÃO DOCUMENTAL: o PRD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ainda registra 'Dashboard v3 publicado: não iniciado', mas a republicação ocorreu em 19/out. Atualize o PRD antes de usá-lo como evidência formal.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[Sources]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Contexto do Painel de Monitoramento PIX (PRD, ideação e evolução v0–v3); roteiro do Pitch_Impacto_Aula_Gabarito_5_Slides.pptx.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7" name="PlaceHolder 3"/>
          <p:cNvSpPr>
            <a:spLocks noGrp="1"/>
          </p:cNvSpPr>
          <p:nvPr>
            <p:ph type="sldNum" idx="8"/>
          </p:nvPr>
        </p:nvSpPr>
        <p:spPr>
          <a:xfrm>
            <a:off x="2913120" y="8685360"/>
            <a:ext cx="222840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87C21802-9D3A-404D-BFF2-7AB4611F4D2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PlaceHolder 1"/>
          <p:cNvSpPr>
            <a:spLocks noGrp="1"/>
          </p:cNvSpPr>
          <p:nvPr>
            <p:ph type="sldImg"/>
          </p:nvPr>
        </p:nvSpPr>
        <p:spPr>
          <a:xfrm>
            <a:off x="-17136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29" name="PlaceHolder 2"/>
          <p:cNvSpPr>
            <a:spLocks noGrp="1"/>
          </p:cNvSpPr>
          <p:nvPr>
            <p:ph type="body"/>
          </p:nvPr>
        </p:nvSpPr>
        <p:spPr>
          <a:xfrm>
            <a:off x="514440" y="4400640"/>
            <a:ext cx="41144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INC-002: em 14/out, o painel mostrou um pico de 6,73% no código ED05, equivalente a 115 vezes o normal, visível apenas na granularidade diária. Esse é o tipo de evento que uma média escondia. Também foram reclassificadas 401 mil mensagens após a correção de Cancelamento na Origem e no Destino. Atualização automática em D-1 com e-mail em caso de falha. Sugestão: mostre essa tela ao vivo ou em print.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[Sources] Contexto do Painel de Monitoramento PIX (PRD, ideação e evolução v0–v3); roteiro do Pitch_Impacto_Aula_Gabarito_5_Slides.pptx.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" name="PlaceHolder 3"/>
          <p:cNvSpPr>
            <a:spLocks noGrp="1"/>
          </p:cNvSpPr>
          <p:nvPr>
            <p:ph type="sldNum" idx="9"/>
          </p:nvPr>
        </p:nvSpPr>
        <p:spPr>
          <a:xfrm>
            <a:off x="2913120" y="8685360"/>
            <a:ext cx="222840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4B22137C-066D-416B-A2F5-7BA006CA1E0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PlaceHolder 1"/>
          <p:cNvSpPr>
            <a:spLocks noGrp="1"/>
          </p:cNvSpPr>
          <p:nvPr>
            <p:ph type="sldImg"/>
          </p:nvPr>
        </p:nvSpPr>
        <p:spPr>
          <a:xfrm>
            <a:off x="-17136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32" name="PlaceHolder 2"/>
          <p:cNvSpPr>
            <a:spLocks noGrp="1"/>
          </p:cNvSpPr>
          <p:nvPr>
            <p:ph type="body"/>
          </p:nvPr>
        </p:nvSpPr>
        <p:spPr>
          <a:xfrm>
            <a:off x="514440" y="4400640"/>
            <a:ext cx="41144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QUALIFIQUE: diferencie o que foi medido do que é projetado. O ETL abaixo de 10 minutos por dia é PROJETADO (hipótese a validar com o monitoramento do job). A cobertura é de 5 dos 8 TMOs (#2, #3, #6, #7, #8); pendentes #1 disponibilidade, #4 quantidade de incidentes e #5 principais incidentes. Declare as limitações antes que a banca pergunte: GAP-001 (contagem por mensagem, ~3,8% podem ser retentativas), códigos fantasma 129–133, P3 com quatro dias de atraso, 27 registros com valor negativo e publicação dependente da esteira GEGOD.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[Sources] Contexto do Painel de Monitoramento PIX (PRD, ideação e evolução v0–v3); roteiro do Pitch_Impacto_Aula_Gabarito_5_Slides.pptx.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" name="PlaceHolder 3"/>
          <p:cNvSpPr>
            <a:spLocks noGrp="1"/>
          </p:cNvSpPr>
          <p:nvPr>
            <p:ph type="sldNum" idx="10"/>
          </p:nvPr>
        </p:nvSpPr>
        <p:spPr>
          <a:xfrm>
            <a:off x="2913120" y="8685360"/>
            <a:ext cx="222840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47439E06-C7CE-4ECF-80D1-D026281D63C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PlaceHolder 1"/>
          <p:cNvSpPr>
            <a:spLocks noGrp="1"/>
          </p:cNvSpPr>
          <p:nvPr>
            <p:ph type="sldImg"/>
          </p:nvPr>
        </p:nvSpPr>
        <p:spPr>
          <a:xfrm>
            <a:off x="-17136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35" name="PlaceHolder 2"/>
          <p:cNvSpPr>
            <a:spLocks noGrp="1"/>
          </p:cNvSpPr>
          <p:nvPr>
            <p:ph type="body"/>
          </p:nvPr>
        </p:nvSpPr>
        <p:spPr>
          <a:xfrm>
            <a:off x="514440" y="4400640"/>
            <a:ext cx="41144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RETOME a pergunta inicial, SINTETIZE a transformação em uma frase e CONVOQUE a decisão: aprovar a Fase 3 (CGC Agregador para Agências, SR e SEV) como piloto. Não encerre com 'obrigado'. Reserve alguns segundos de silêncio após a frase final.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[Sources] Contexto do Painel de Monitoramento PIX (PRD, ideação e evolução v0–v3); roteiro do Pitch_Impacto_Aula_Gabarito_5_Slides.pptx. Visual on this slide was generated with Microsoft Copilot.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" name="PlaceHolder 3"/>
          <p:cNvSpPr>
            <a:spLocks noGrp="1"/>
          </p:cNvSpPr>
          <p:nvPr>
            <p:ph type="sldNum" idx="11"/>
          </p:nvPr>
        </p:nvSpPr>
        <p:spPr>
          <a:xfrm>
            <a:off x="2913120" y="8685360"/>
            <a:ext cx="222840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DD731636-C242-4F86-B4EF-73885DA052C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pt-BR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>
              <a:buNone/>
            </a:pP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Clique para editar o formato do texto do título</a:t>
            </a:r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pt-BR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pt-BR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Clique para editar o formato de texto dos tópicos</a:t>
            </a:r>
            <a:endParaRPr lang="pt-BR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BR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2.º nível de tópicos</a:t>
            </a:r>
            <a:endParaRPr lang="pt-BR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3.º nível de tópicos</a:t>
            </a:r>
            <a:endParaRPr lang="pt-BR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BR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4.º nível de tópicos</a:t>
            </a:r>
            <a:endParaRPr lang="pt-BR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5.º nível de tópicos</a:t>
            </a:r>
            <a:endParaRPr lang="pt-BR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6.º nível de tópicos</a:t>
            </a:r>
            <a:endParaRPr lang="pt-BR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7.º nível de tópicos</a:t>
            </a:r>
            <a:endParaRPr lang="pt-BR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Image 0" descr="Imagem gerada por IA: fluxos de dados em azul e ciano, com foco visual à direita."/>
          <p:cNvPicPr/>
          <p:nvPr/>
        </p:nvPicPr>
        <p:blipFill>
          <a:blip r:embed="rId1"/>
          <a:srcRect l="0" t="28" r="0" b="28"/>
          <a:stretch/>
        </p:blipFill>
        <p:spPr>
          <a:xfrm>
            <a:off x="0" y="0"/>
            <a:ext cx="9143640" cy="5143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" name="Text 2"/>
          <p:cNvSpPr/>
          <p:nvPr/>
        </p:nvSpPr>
        <p:spPr>
          <a:xfrm>
            <a:off x="637560" y="1048680"/>
            <a:ext cx="512028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Trebuchet MS"/>
                <a:ea typeface="Trebuchet MS"/>
              </a:rPr>
              <a:t>Grupo 4</a:t>
            </a:r>
            <a:endParaRPr lang="pt-BR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br>
              <a:rPr sz="3200"/>
            </a:br>
            <a:r>
              <a:rPr lang="pt-BR" sz="1600" b="0" u="none" strike="noStrike">
                <a:solidFill>
                  <a:srgbClr val="FFFFFF"/>
                </a:solidFill>
                <a:effectLst/>
                <a:uFillTx/>
                <a:latin typeface="Trebuchet MS"/>
                <a:ea typeface="Trebuchet MS"/>
              </a:rPr>
              <a:t>Danilo dos Santos Pinto</a:t>
            </a:r>
            <a:endParaRPr lang="pt-BR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600" b="0" u="none" strike="noStrike">
                <a:solidFill>
                  <a:srgbClr val="FFFFFF"/>
                </a:solidFill>
                <a:effectLst/>
                <a:uFillTx/>
                <a:latin typeface="Trebuchet MS"/>
                <a:ea typeface="Trebuchet MS"/>
              </a:rPr>
              <a:t>Eduardo Constantino de Oliveira</a:t>
            </a:r>
            <a:endParaRPr lang="pt-BR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600" b="0" u="none" strike="noStrike">
                <a:solidFill>
                  <a:srgbClr val="FFFFFF"/>
                </a:solidFill>
                <a:effectLst/>
                <a:uFillTx/>
                <a:latin typeface="Trebuchet MS"/>
                <a:ea typeface="Trebuchet MS"/>
              </a:rPr>
              <a:t>Gabriel Figueiredo Gomes</a:t>
            </a:r>
            <a:endParaRPr lang="pt-BR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600" b="0" u="none" strike="noStrike">
                <a:solidFill>
                  <a:srgbClr val="FFFFFF"/>
                </a:solidFill>
                <a:effectLst/>
                <a:uFillTx/>
                <a:latin typeface="Trebuchet MS"/>
                <a:ea typeface="Trebuchet MS"/>
              </a:rPr>
              <a:t>Leonardo da Cruz Jordao</a:t>
            </a:r>
            <a:endParaRPr lang="pt-BR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600" b="0" u="none" strike="noStrike">
                <a:solidFill>
                  <a:srgbClr val="FFFFFF"/>
                </a:solidFill>
                <a:effectLst/>
                <a:uFillTx/>
                <a:latin typeface="Trebuchet MS"/>
                <a:ea typeface="Trebuchet MS"/>
              </a:rPr>
              <a:t>Mariana Cristina Gritzenco dos Santos</a:t>
            </a:r>
            <a:endParaRPr lang="pt-BR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600" b="0" u="none" strike="noStrike">
                <a:solidFill>
                  <a:srgbClr val="FFFFFF"/>
                </a:solidFill>
                <a:effectLst/>
                <a:uFillTx/>
                <a:latin typeface="Trebuchet MS"/>
                <a:ea typeface="Trebuchet MS"/>
              </a:rPr>
              <a:t>Vinicius Hiroshi Sato</a:t>
            </a:r>
            <a:endParaRPr lang="pt-BR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pt-BR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Image 0" descr="hook_bg.png"/>
          <p:cNvPicPr/>
          <p:nvPr/>
        </p:nvPicPr>
        <p:blipFill>
          <a:blip r:embed="rId1"/>
          <a:srcRect l="0" t="5001" r="0" b="10541"/>
          <a:stretch/>
        </p:blipFill>
        <p:spPr>
          <a:xfrm>
            <a:off x="0" y="0"/>
            <a:ext cx="9143640" cy="5143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" name="Shape 0"/>
          <p:cNvSpPr/>
          <p:nvPr/>
        </p:nvSpPr>
        <p:spPr>
          <a:xfrm>
            <a:off x="0" y="0"/>
            <a:ext cx="6034680" cy="5143320"/>
          </a:xfrm>
          <a:prstGeom prst="rect">
            <a:avLst/>
          </a:prstGeom>
          <a:solidFill>
            <a:srgbClr val="0A2540">
              <a:alpha val="88000"/>
            </a:srgbClr>
          </a:solidFill>
          <a:ln w="12700">
            <a:solidFill>
              <a:srgbClr val="0A2540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" name="Text 2"/>
          <p:cNvSpPr/>
          <p:nvPr/>
        </p:nvSpPr>
        <p:spPr>
          <a:xfrm>
            <a:off x="1389960" y="2206080"/>
            <a:ext cx="512028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Trebuchet MS"/>
                <a:ea typeface="Trebuchet MS"/>
              </a:rPr>
              <a:t>O que é confiança?</a:t>
            </a:r>
            <a:endParaRPr lang="pt-B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Image 0" descr="hook_bg.png"/>
          <p:cNvPicPr/>
          <p:nvPr/>
        </p:nvPicPr>
        <p:blipFill>
          <a:blip r:embed="rId1"/>
          <a:srcRect l="0" t="5001" r="0" b="10541"/>
          <a:stretch/>
        </p:blipFill>
        <p:spPr>
          <a:xfrm>
            <a:off x="0" y="0"/>
            <a:ext cx="9143640" cy="5143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" name="Shape 0"/>
          <p:cNvSpPr/>
          <p:nvPr/>
        </p:nvSpPr>
        <p:spPr>
          <a:xfrm>
            <a:off x="0" y="0"/>
            <a:ext cx="6034680" cy="5143320"/>
          </a:xfrm>
          <a:prstGeom prst="rect">
            <a:avLst/>
          </a:prstGeom>
          <a:solidFill>
            <a:srgbClr val="0A2540">
              <a:alpha val="88000"/>
            </a:srgbClr>
          </a:solidFill>
          <a:ln w="12700">
            <a:solidFill>
              <a:srgbClr val="0A2540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" name="Text 2"/>
          <p:cNvSpPr/>
          <p:nvPr/>
        </p:nvSpPr>
        <p:spPr>
          <a:xfrm>
            <a:off x="548640" y="2034720"/>
            <a:ext cx="5120280" cy="153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Trebuchet MS"/>
                <a:ea typeface="Trebuchet MS"/>
              </a:rPr>
              <a:t>A CAIXA enxerga, com confiança, a própria carteira PIX?</a:t>
            </a:r>
            <a:endParaRPr lang="pt-BR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3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 1"/>
          <p:cNvSpPr/>
          <p:nvPr/>
        </p:nvSpPr>
        <p:spPr>
          <a:xfrm>
            <a:off x="457200" y="502920"/>
            <a:ext cx="8229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0A2540"/>
                </a:solidFill>
                <a:effectLst/>
                <a:uFillTx/>
                <a:latin typeface="Trebuchet MS"/>
                <a:ea typeface="Trebuchet MS"/>
              </a:rPr>
              <a:t>O problema não é técnico. É de visibilidade.</a:t>
            </a:r>
            <a:endParaRPr lang="pt-B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Text 2"/>
          <p:cNvSpPr/>
          <p:nvPr/>
        </p:nvSpPr>
        <p:spPr>
          <a:xfrm>
            <a:off x="457200" y="4846320"/>
            <a:ext cx="457164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pc="201" strike="noStrike">
                <a:solidFill>
                  <a:srgbClr val="5B6B7F"/>
                </a:solidFill>
                <a:effectLst/>
                <a:uFillTx/>
                <a:latin typeface="Calibri"/>
                <a:ea typeface="Calibri"/>
              </a:rPr>
              <a:t>PAINEL DE MONITORAMENTO PIX</a:t>
            </a:r>
            <a:endParaRPr lang="pt-B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Text 3"/>
          <p:cNvSpPr/>
          <p:nvPr/>
        </p:nvSpPr>
        <p:spPr>
          <a:xfrm>
            <a:off x="8229600" y="4846320"/>
            <a:ext cx="45684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5B6B7F"/>
                </a:solidFill>
                <a:effectLst/>
                <a:uFillTx/>
                <a:latin typeface="Calibri"/>
                <a:ea typeface="Calibri"/>
              </a:rPr>
              <a:t>2</a:t>
            </a:r>
            <a:endParaRPr lang="pt-B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Shape 14"/>
          <p:cNvSpPr/>
          <p:nvPr/>
        </p:nvSpPr>
        <p:spPr>
          <a:xfrm>
            <a:off x="4937760" y="1591200"/>
            <a:ext cx="2651400" cy="2011320"/>
          </a:xfrm>
          <a:prstGeom prst="rect">
            <a:avLst/>
          </a:prstGeom>
          <a:solidFill>
            <a:srgbClr val="FFFFFF"/>
          </a:solidFill>
          <a:ln w="6350">
            <a:solidFill>
              <a:srgbClr val="E1E7EF"/>
            </a:solidFill>
            <a:round/>
          </a:ln>
          <a:effectLst>
            <a:outerShdw algn="bl" blurRad="101520" dir="8100000" dist="25455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" name="Shape 15"/>
          <p:cNvSpPr/>
          <p:nvPr/>
        </p:nvSpPr>
        <p:spPr>
          <a:xfrm>
            <a:off x="4937760" y="1591200"/>
            <a:ext cx="63720" cy="2011320"/>
          </a:xfrm>
          <a:prstGeom prst="rect">
            <a:avLst/>
          </a:prstGeom>
          <a:solidFill>
            <a:srgbClr val="F7941D"/>
          </a:solidFill>
          <a:ln w="12700">
            <a:solidFill>
              <a:srgbClr val="F7941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" name="Shape 16"/>
          <p:cNvSpPr/>
          <p:nvPr/>
        </p:nvSpPr>
        <p:spPr>
          <a:xfrm>
            <a:off x="5166360" y="1792080"/>
            <a:ext cx="456840" cy="456840"/>
          </a:xfrm>
          <a:prstGeom prst="ellipse">
            <a:avLst/>
          </a:prstGeom>
          <a:solidFill>
            <a:srgbClr val="F7941D"/>
          </a:solidFill>
          <a:ln w="12700">
            <a:solidFill>
              <a:srgbClr val="F7941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24" name="Image 2" descr="preencoded.png"/>
          <p:cNvPicPr/>
          <p:nvPr/>
        </p:nvPicPr>
        <p:blipFill>
          <a:blip r:embed="rId1"/>
          <a:stretch/>
        </p:blipFill>
        <p:spPr>
          <a:xfrm>
            <a:off x="5276160" y="1901880"/>
            <a:ext cx="237240" cy="237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5" name="Text 17"/>
          <p:cNvSpPr/>
          <p:nvPr/>
        </p:nvSpPr>
        <p:spPr>
          <a:xfrm>
            <a:off x="5166360" y="2322720"/>
            <a:ext cx="22856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0A2540"/>
                </a:solidFill>
                <a:effectLst/>
                <a:uFillTx/>
                <a:latin typeface="Trebuchet MS"/>
                <a:ea typeface="Trebuchet MS"/>
              </a:rPr>
              <a:t>Por que importa à liderança</a:t>
            </a:r>
            <a:endParaRPr lang="pt-B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Text 18"/>
          <p:cNvSpPr/>
          <p:nvPr/>
        </p:nvSpPr>
        <p:spPr>
          <a:xfrm>
            <a:off x="5166360" y="2807280"/>
            <a:ext cx="228564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1B2733"/>
                </a:solidFill>
                <a:effectLst/>
                <a:uFillTx/>
                <a:latin typeface="Calibri"/>
                <a:ea typeface="Calibri"/>
              </a:rPr>
              <a:t>O PIX é indutor de relacionamento, de depósito à vista e de receita.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Shape 19"/>
          <p:cNvSpPr/>
          <p:nvPr/>
        </p:nvSpPr>
        <p:spPr>
          <a:xfrm>
            <a:off x="719280" y="1965960"/>
            <a:ext cx="3041640" cy="1096920"/>
          </a:xfrm>
          <a:prstGeom prst="rect">
            <a:avLst/>
          </a:prstGeom>
          <a:solidFill>
            <a:srgbClr val="0A2540"/>
          </a:solidFill>
          <a:ln w="12700">
            <a:solidFill>
              <a:srgbClr val="0A254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8" name="Text 24"/>
          <p:cNvSpPr/>
          <p:nvPr/>
        </p:nvSpPr>
        <p:spPr>
          <a:xfrm>
            <a:off x="1691640" y="2130480"/>
            <a:ext cx="23770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F7941D"/>
                </a:solidFill>
                <a:effectLst/>
                <a:uFillTx/>
                <a:latin typeface="Trebuchet MS"/>
                <a:ea typeface="Trebuchet MS"/>
              </a:rPr>
              <a:t>71,6%</a:t>
            </a:r>
            <a:endParaRPr lang="pt-B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Text 25"/>
          <p:cNvSpPr/>
          <p:nvPr/>
        </p:nvSpPr>
        <p:spPr>
          <a:xfrm>
            <a:off x="1463040" y="2597040"/>
            <a:ext cx="228564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das rejeições não são identificadas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3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 1"/>
          <p:cNvSpPr/>
          <p:nvPr/>
        </p:nvSpPr>
        <p:spPr>
          <a:xfrm>
            <a:off x="457200" y="502920"/>
            <a:ext cx="8229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0A2540"/>
                </a:solidFill>
                <a:effectLst/>
                <a:uFillTx/>
                <a:latin typeface="Trebuchet MS"/>
                <a:ea typeface="Trebuchet MS"/>
              </a:rPr>
              <a:t>Funcionando: da fonte única ao dashboard</a:t>
            </a:r>
            <a:endParaRPr lang="pt-B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Text 2"/>
          <p:cNvSpPr/>
          <p:nvPr/>
        </p:nvSpPr>
        <p:spPr>
          <a:xfrm>
            <a:off x="457200" y="4846320"/>
            <a:ext cx="457164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pc="201" strike="noStrike">
                <a:solidFill>
                  <a:srgbClr val="5B6B7F"/>
                </a:solidFill>
                <a:effectLst/>
                <a:uFillTx/>
                <a:latin typeface="Calibri"/>
                <a:ea typeface="Calibri"/>
              </a:rPr>
              <a:t>PAINEL DE MONITORAMENTO PIX</a:t>
            </a:r>
            <a:endParaRPr lang="pt-B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Text 3"/>
          <p:cNvSpPr/>
          <p:nvPr/>
        </p:nvSpPr>
        <p:spPr>
          <a:xfrm>
            <a:off x="8229600" y="4846320"/>
            <a:ext cx="45684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5B6B7F"/>
                </a:solidFill>
                <a:effectLst/>
                <a:uFillTx/>
                <a:latin typeface="Calibri"/>
                <a:ea typeface="Calibri"/>
              </a:rPr>
              <a:t>5</a:t>
            </a:r>
            <a:endParaRPr lang="pt-B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Shape 4"/>
          <p:cNvSpPr/>
          <p:nvPr/>
        </p:nvSpPr>
        <p:spPr>
          <a:xfrm>
            <a:off x="457200" y="1325880"/>
            <a:ext cx="1481040" cy="2148480"/>
          </a:xfrm>
          <a:prstGeom prst="rect">
            <a:avLst/>
          </a:prstGeom>
          <a:solidFill>
            <a:srgbClr val="FFFFFF"/>
          </a:solidFill>
          <a:ln w="6350">
            <a:solidFill>
              <a:srgbClr val="E1E7EF"/>
            </a:solidFill>
            <a:round/>
          </a:ln>
          <a:effectLst>
            <a:outerShdw algn="bl" blurRad="101520" dir="8100000" dist="25455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4" name="Shape 5"/>
          <p:cNvSpPr/>
          <p:nvPr/>
        </p:nvSpPr>
        <p:spPr>
          <a:xfrm>
            <a:off x="567000" y="1463040"/>
            <a:ext cx="420120" cy="420120"/>
          </a:xfrm>
          <a:prstGeom prst="ellipse">
            <a:avLst/>
          </a:prstGeom>
          <a:solidFill>
            <a:srgbClr val="005CA9"/>
          </a:solidFill>
          <a:ln w="12700">
            <a:solidFill>
              <a:srgbClr val="005CA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35" name="Image 0" descr="preencoded.png"/>
          <p:cNvPicPr/>
          <p:nvPr/>
        </p:nvPicPr>
        <p:blipFill>
          <a:blip r:embed="rId1"/>
          <a:stretch/>
        </p:blipFill>
        <p:spPr>
          <a:xfrm>
            <a:off x="676800" y="1572840"/>
            <a:ext cx="200880" cy="200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6" name="Text 6"/>
          <p:cNvSpPr/>
          <p:nvPr/>
        </p:nvSpPr>
        <p:spPr>
          <a:xfrm>
            <a:off x="567000" y="1984320"/>
            <a:ext cx="12798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0A2540"/>
                </a:solidFill>
                <a:effectLst/>
                <a:uFillTx/>
                <a:latin typeface="Trebuchet MS"/>
                <a:ea typeface="Trebuchet MS"/>
              </a:rPr>
              <a:t>Fonte única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Text 7"/>
          <p:cNvSpPr/>
          <p:nvPr/>
        </p:nvSpPr>
        <p:spPr>
          <a:xfrm>
            <a:off x="567000" y="2286000"/>
            <a:ext cx="1298160" cy="114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1B2733"/>
                </a:solidFill>
                <a:effectLst/>
                <a:uFillTx/>
                <a:latin typeface="Calibri"/>
                <a:ea typeface="Calibri"/>
              </a:rPr>
              <a:t>Tabela de dados brutos </a:t>
            </a:r>
            <a:endParaRPr lang="pt-BR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Shape 8"/>
          <p:cNvSpPr/>
          <p:nvPr/>
        </p:nvSpPr>
        <p:spPr>
          <a:xfrm>
            <a:off x="1956960" y="2286000"/>
            <a:ext cx="173520" cy="22824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F7941D"/>
          </a:solidFill>
          <a:ln w="12700">
            <a:solidFill>
              <a:srgbClr val="F7941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9" name="Shape 9"/>
          <p:cNvSpPr/>
          <p:nvPr/>
        </p:nvSpPr>
        <p:spPr>
          <a:xfrm>
            <a:off x="2144160" y="1325880"/>
            <a:ext cx="1481040" cy="2148480"/>
          </a:xfrm>
          <a:prstGeom prst="rect">
            <a:avLst/>
          </a:prstGeom>
          <a:solidFill>
            <a:srgbClr val="FFFFFF"/>
          </a:solidFill>
          <a:ln w="6350">
            <a:solidFill>
              <a:srgbClr val="E1E7EF"/>
            </a:solidFill>
            <a:round/>
          </a:ln>
          <a:effectLst>
            <a:outerShdw algn="bl" blurRad="101520" dir="8100000" dist="25455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0" name="Shape 10"/>
          <p:cNvSpPr/>
          <p:nvPr/>
        </p:nvSpPr>
        <p:spPr>
          <a:xfrm>
            <a:off x="2253960" y="1463040"/>
            <a:ext cx="420120" cy="420120"/>
          </a:xfrm>
          <a:prstGeom prst="ellipse">
            <a:avLst/>
          </a:prstGeom>
          <a:solidFill>
            <a:srgbClr val="005CA9"/>
          </a:solidFill>
          <a:ln w="12700">
            <a:solidFill>
              <a:srgbClr val="005CA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41" name="Image 1" descr="preencoded.png"/>
          <p:cNvPicPr/>
          <p:nvPr/>
        </p:nvPicPr>
        <p:blipFill>
          <a:blip r:embed="rId2"/>
          <a:stretch/>
        </p:blipFill>
        <p:spPr>
          <a:xfrm>
            <a:off x="2363760" y="1572840"/>
            <a:ext cx="200880" cy="200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2" name="Text 11"/>
          <p:cNvSpPr/>
          <p:nvPr/>
        </p:nvSpPr>
        <p:spPr>
          <a:xfrm>
            <a:off x="2253960" y="1984320"/>
            <a:ext cx="12798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0A2540"/>
                </a:solidFill>
                <a:effectLst/>
                <a:uFillTx/>
                <a:latin typeface="Trebuchet MS"/>
                <a:ea typeface="Trebuchet MS"/>
              </a:rPr>
              <a:t>Cam1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Text 12"/>
          <p:cNvSpPr/>
          <p:nvPr/>
        </p:nvSpPr>
        <p:spPr>
          <a:xfrm>
            <a:off x="2253960" y="2286000"/>
            <a:ext cx="1298160" cy="114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1B2733"/>
                </a:solidFill>
                <a:effectLst/>
                <a:uFillTx/>
                <a:latin typeface="Calibri"/>
                <a:ea typeface="Calibri"/>
              </a:rPr>
              <a:t>Agregação e contabilização dos KPI´s</a:t>
            </a:r>
            <a:endParaRPr lang="pt-BR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Shape 13"/>
          <p:cNvSpPr/>
          <p:nvPr/>
        </p:nvSpPr>
        <p:spPr>
          <a:xfrm>
            <a:off x="3643920" y="2286000"/>
            <a:ext cx="173520" cy="22824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F7941D"/>
          </a:solidFill>
          <a:ln w="12700">
            <a:solidFill>
              <a:srgbClr val="F7941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5" name="Shape 14"/>
          <p:cNvSpPr/>
          <p:nvPr/>
        </p:nvSpPr>
        <p:spPr>
          <a:xfrm>
            <a:off x="3831480" y="1325880"/>
            <a:ext cx="1481040" cy="2148480"/>
          </a:xfrm>
          <a:prstGeom prst="rect">
            <a:avLst/>
          </a:prstGeom>
          <a:solidFill>
            <a:srgbClr val="FFFFFF"/>
          </a:solidFill>
          <a:ln w="28575">
            <a:solidFill>
              <a:srgbClr val="F7941D"/>
            </a:solidFill>
            <a:round/>
          </a:ln>
          <a:effectLst>
            <a:outerShdw algn="bl" blurRad="101520" dir="8100000" dist="25455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6" name="Shape 15"/>
          <p:cNvSpPr/>
          <p:nvPr/>
        </p:nvSpPr>
        <p:spPr>
          <a:xfrm>
            <a:off x="3940920" y="1463040"/>
            <a:ext cx="420120" cy="420120"/>
          </a:xfrm>
          <a:prstGeom prst="ellipse">
            <a:avLst/>
          </a:prstGeom>
          <a:solidFill>
            <a:srgbClr val="F7941D"/>
          </a:solidFill>
          <a:ln w="12700">
            <a:solidFill>
              <a:srgbClr val="F7941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47" name="Image 2" descr="preencoded.png"/>
          <p:cNvPicPr/>
          <p:nvPr/>
        </p:nvPicPr>
        <p:blipFill>
          <a:blip r:embed="rId3"/>
          <a:stretch/>
        </p:blipFill>
        <p:spPr>
          <a:xfrm>
            <a:off x="4050720" y="1572840"/>
            <a:ext cx="200880" cy="200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8" name="Text 16"/>
          <p:cNvSpPr/>
          <p:nvPr/>
        </p:nvSpPr>
        <p:spPr>
          <a:xfrm>
            <a:off x="3940920" y="1984320"/>
            <a:ext cx="12798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0A2540"/>
                </a:solidFill>
                <a:effectLst/>
                <a:uFillTx/>
                <a:latin typeface="Trebuchet MS"/>
                <a:ea typeface="Trebuchet MS"/>
              </a:rPr>
              <a:t>Cam2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Text 17"/>
          <p:cNvSpPr/>
          <p:nvPr/>
        </p:nvSpPr>
        <p:spPr>
          <a:xfrm>
            <a:off x="3940920" y="2286000"/>
            <a:ext cx="1298160" cy="114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1B2733"/>
                </a:solidFill>
                <a:effectLst/>
                <a:uFillTx/>
                <a:latin typeface="Calibri"/>
                <a:ea typeface="Calibri"/>
              </a:rPr>
              <a:t>Cruzamento de dados com filtro por grupo de interesse </a:t>
            </a:r>
            <a:endParaRPr lang="pt-BR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Shape 18"/>
          <p:cNvSpPr/>
          <p:nvPr/>
        </p:nvSpPr>
        <p:spPr>
          <a:xfrm>
            <a:off x="5330880" y="2286000"/>
            <a:ext cx="173520" cy="22824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F7941D"/>
          </a:solidFill>
          <a:ln w="12700">
            <a:solidFill>
              <a:srgbClr val="F7941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1" name="Shape 19"/>
          <p:cNvSpPr/>
          <p:nvPr/>
        </p:nvSpPr>
        <p:spPr>
          <a:xfrm>
            <a:off x="5518440" y="1325880"/>
            <a:ext cx="1481040" cy="2148480"/>
          </a:xfrm>
          <a:prstGeom prst="rect">
            <a:avLst/>
          </a:prstGeom>
          <a:solidFill>
            <a:srgbClr val="FFFFFF"/>
          </a:solidFill>
          <a:ln w="6350">
            <a:solidFill>
              <a:srgbClr val="E1E7EF"/>
            </a:solidFill>
            <a:round/>
          </a:ln>
          <a:effectLst>
            <a:outerShdw algn="bl" blurRad="101520" dir="8100000" dist="25455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2" name="Shape 20"/>
          <p:cNvSpPr/>
          <p:nvPr/>
        </p:nvSpPr>
        <p:spPr>
          <a:xfrm>
            <a:off x="5628240" y="1463040"/>
            <a:ext cx="420120" cy="420120"/>
          </a:xfrm>
          <a:prstGeom prst="ellipse">
            <a:avLst/>
          </a:prstGeom>
          <a:solidFill>
            <a:srgbClr val="005CA9"/>
          </a:solidFill>
          <a:ln w="12700">
            <a:solidFill>
              <a:srgbClr val="005CA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53" name="Image 3" descr="preencoded.png"/>
          <p:cNvPicPr/>
          <p:nvPr/>
        </p:nvPicPr>
        <p:blipFill>
          <a:blip r:embed="rId4"/>
          <a:stretch/>
        </p:blipFill>
        <p:spPr>
          <a:xfrm>
            <a:off x="5738040" y="1572840"/>
            <a:ext cx="200880" cy="200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4" name="Text 21"/>
          <p:cNvSpPr/>
          <p:nvPr/>
        </p:nvSpPr>
        <p:spPr>
          <a:xfrm>
            <a:off x="5628240" y="1984320"/>
            <a:ext cx="12798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0A2540"/>
                </a:solidFill>
                <a:effectLst/>
                <a:uFillTx/>
                <a:latin typeface="Trebuchet MS"/>
                <a:ea typeface="Trebuchet MS"/>
              </a:rPr>
              <a:t>Automação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Text 22"/>
          <p:cNvSpPr/>
          <p:nvPr/>
        </p:nvSpPr>
        <p:spPr>
          <a:xfrm>
            <a:off x="5628240" y="2286000"/>
            <a:ext cx="1298160" cy="114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1B2733"/>
                </a:solidFill>
                <a:effectLst/>
                <a:uFillTx/>
                <a:latin typeface="Calibri"/>
                <a:ea typeface="Calibri"/>
              </a:rPr>
              <a:t>Job </a:t>
            </a:r>
            <a:r>
              <a:rPr lang="pt-BR" sz="1050" b="0" u="none" strike="noStrike">
                <a:solidFill>
                  <a:srgbClr val="1B2733"/>
                </a:solidFill>
                <a:effectLst/>
                <a:uFillTx/>
                <a:latin typeface="Calibri"/>
                <a:ea typeface="Calibri"/>
              </a:rPr>
              <a:t>disparado</a:t>
            </a:r>
            <a:r>
              <a:rPr lang="en-US" sz="1050" b="0" u="none" strike="noStrike">
                <a:solidFill>
                  <a:srgbClr val="1B2733"/>
                </a:solidFill>
                <a:effectLst/>
                <a:uFillTx/>
                <a:latin typeface="Calibri"/>
                <a:ea typeface="Calibri"/>
              </a:rPr>
              <a:t> por atualização de tabela, inicia atualização diária automaticamente ao término do processamento principal.</a:t>
            </a:r>
            <a:endParaRPr lang="pt-BR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Shape 23"/>
          <p:cNvSpPr/>
          <p:nvPr/>
        </p:nvSpPr>
        <p:spPr>
          <a:xfrm>
            <a:off x="7018200" y="2286000"/>
            <a:ext cx="173520" cy="22824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F7941D"/>
          </a:solidFill>
          <a:ln w="12700">
            <a:solidFill>
              <a:srgbClr val="F7941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7" name="Shape 24"/>
          <p:cNvSpPr/>
          <p:nvPr/>
        </p:nvSpPr>
        <p:spPr>
          <a:xfrm>
            <a:off x="7205400" y="1325880"/>
            <a:ext cx="1481040" cy="2148480"/>
          </a:xfrm>
          <a:prstGeom prst="rect">
            <a:avLst/>
          </a:prstGeom>
          <a:solidFill>
            <a:srgbClr val="FFFFFF"/>
          </a:solidFill>
          <a:ln w="6350">
            <a:solidFill>
              <a:srgbClr val="E1E7EF"/>
            </a:solidFill>
            <a:round/>
          </a:ln>
          <a:effectLst>
            <a:outerShdw algn="bl" blurRad="101520" dir="8100000" dist="25455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8" name="Shape 25"/>
          <p:cNvSpPr/>
          <p:nvPr/>
        </p:nvSpPr>
        <p:spPr>
          <a:xfrm>
            <a:off x="7315200" y="1463040"/>
            <a:ext cx="420120" cy="420120"/>
          </a:xfrm>
          <a:prstGeom prst="ellipse">
            <a:avLst/>
          </a:prstGeom>
          <a:solidFill>
            <a:srgbClr val="005CA9"/>
          </a:solidFill>
          <a:ln w="12700">
            <a:solidFill>
              <a:srgbClr val="005CA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59" name="Image 4" descr="preencoded.png"/>
          <p:cNvPicPr/>
          <p:nvPr/>
        </p:nvPicPr>
        <p:blipFill>
          <a:blip r:embed="rId5"/>
          <a:stretch/>
        </p:blipFill>
        <p:spPr>
          <a:xfrm>
            <a:off x="7425000" y="1572840"/>
            <a:ext cx="200880" cy="200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0" name="Text 26"/>
          <p:cNvSpPr/>
          <p:nvPr/>
        </p:nvSpPr>
        <p:spPr>
          <a:xfrm>
            <a:off x="7315200" y="1984320"/>
            <a:ext cx="12798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0A2540"/>
                </a:solidFill>
                <a:effectLst/>
                <a:uFillTx/>
                <a:latin typeface="Trebuchet MS"/>
                <a:ea typeface="Trebuchet MS"/>
              </a:rPr>
              <a:t>Dashboard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Text 27"/>
          <p:cNvSpPr/>
          <p:nvPr/>
        </p:nvSpPr>
        <p:spPr>
          <a:xfrm>
            <a:off x="7315200" y="2286000"/>
            <a:ext cx="1298160" cy="114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1B2733"/>
                </a:solidFill>
                <a:effectLst/>
                <a:uFillTx/>
                <a:latin typeface="Calibri"/>
                <a:ea typeface="Calibri"/>
              </a:rPr>
              <a:t>Seis páginas, gráficos diários, métricas que apoiam a tomada de decisão.</a:t>
            </a:r>
            <a:endParaRPr lang="pt-BR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Shape 28"/>
          <p:cNvSpPr/>
          <p:nvPr/>
        </p:nvSpPr>
        <p:spPr>
          <a:xfrm>
            <a:off x="457200" y="3611880"/>
            <a:ext cx="8229240" cy="502560"/>
          </a:xfrm>
          <a:prstGeom prst="rect">
            <a:avLst/>
          </a:prstGeom>
          <a:solidFill>
            <a:srgbClr val="F7941D"/>
          </a:solidFill>
          <a:ln w="12700">
            <a:solidFill>
              <a:srgbClr val="F7941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3" name="Text 29"/>
          <p:cNvSpPr/>
          <p:nvPr/>
        </p:nvSpPr>
        <p:spPr>
          <a:xfrm>
            <a:off x="640080" y="3611880"/>
            <a:ext cx="786348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/>
            <a:endParaRPr lang="en-US" sz="135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4" name="Text 30"/>
          <p:cNvSpPr/>
          <p:nvPr/>
        </p:nvSpPr>
        <p:spPr>
          <a:xfrm>
            <a:off x="457200" y="4251960"/>
            <a:ext cx="82292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/>
            <a:endParaRPr lang="en-US" sz="1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3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Text 1"/>
          <p:cNvSpPr/>
          <p:nvPr/>
        </p:nvSpPr>
        <p:spPr>
          <a:xfrm>
            <a:off x="457200" y="502920"/>
            <a:ext cx="8229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0A2540"/>
                </a:solidFill>
                <a:effectLst/>
                <a:uFillTx/>
                <a:latin typeface="Trebuchet MS"/>
                <a:ea typeface="Trebuchet MS"/>
              </a:rPr>
              <a:t>O painel enxerga o que antes era invisível</a:t>
            </a:r>
            <a:endParaRPr lang="pt-B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Text 2"/>
          <p:cNvSpPr/>
          <p:nvPr/>
        </p:nvSpPr>
        <p:spPr>
          <a:xfrm>
            <a:off x="457200" y="4846320"/>
            <a:ext cx="457164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pc="201" strike="noStrike">
                <a:solidFill>
                  <a:srgbClr val="5B6B7F"/>
                </a:solidFill>
                <a:effectLst/>
                <a:uFillTx/>
                <a:latin typeface="Calibri"/>
                <a:ea typeface="Calibri"/>
              </a:rPr>
              <a:t>PAINEL DE MONITORAMENTO PIX</a:t>
            </a:r>
            <a:endParaRPr lang="pt-B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Text 3"/>
          <p:cNvSpPr/>
          <p:nvPr/>
        </p:nvSpPr>
        <p:spPr>
          <a:xfrm>
            <a:off x="8229600" y="4846320"/>
            <a:ext cx="45684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5B6B7F"/>
                </a:solidFill>
                <a:effectLst/>
                <a:uFillTx/>
                <a:latin typeface="Calibri"/>
                <a:ea typeface="Calibri"/>
              </a:rPr>
              <a:t>6</a:t>
            </a:r>
            <a:endParaRPr lang="pt-B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Shape 4"/>
          <p:cNvSpPr/>
          <p:nvPr/>
        </p:nvSpPr>
        <p:spPr>
          <a:xfrm>
            <a:off x="457200" y="1325880"/>
            <a:ext cx="5028840" cy="3291480"/>
          </a:xfrm>
          <a:prstGeom prst="rect">
            <a:avLst/>
          </a:prstGeom>
          <a:solidFill>
            <a:srgbClr val="0A2540"/>
          </a:solidFill>
          <a:ln w="12700">
            <a:solidFill>
              <a:srgbClr val="0A2540"/>
            </a:solidFill>
            <a:round/>
          </a:ln>
          <a:effectLst>
            <a:outerShdw algn="bl" blurRad="101520" dir="8100000" dist="25455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9" name="Text 5"/>
          <p:cNvSpPr/>
          <p:nvPr/>
        </p:nvSpPr>
        <p:spPr>
          <a:xfrm>
            <a:off x="731520" y="1508760"/>
            <a:ext cx="45716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pc="300" strike="noStrike">
                <a:solidFill>
                  <a:srgbClr val="F7941D"/>
                </a:solidFill>
                <a:effectLst/>
                <a:uFillTx/>
                <a:latin typeface="Calibri"/>
                <a:ea typeface="Calibri"/>
              </a:rPr>
              <a:t>14/OUT · FALHA NA LIQUIDAÇÃO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Text 6"/>
          <p:cNvSpPr/>
          <p:nvPr/>
        </p:nvSpPr>
        <p:spPr>
          <a:xfrm>
            <a:off x="731520" y="1828800"/>
            <a:ext cx="4571640" cy="118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200" b="1" u="none" strike="noStrike">
                <a:solidFill>
                  <a:srgbClr val="FFFFFF"/>
                </a:solidFill>
                <a:effectLst/>
                <a:uFillTx/>
                <a:latin typeface="Trebuchet MS"/>
                <a:ea typeface="Trebuchet MS"/>
              </a:rPr>
              <a:t>6,73%</a:t>
            </a:r>
            <a:endParaRPr lang="pt-BR" sz="7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Text 7"/>
          <p:cNvSpPr/>
          <p:nvPr/>
        </p:nvSpPr>
        <p:spPr>
          <a:xfrm>
            <a:off x="731520" y="3017520"/>
            <a:ext cx="45716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CFE3F5"/>
                </a:solidFill>
                <a:effectLst/>
                <a:uFillTx/>
                <a:latin typeface="Calibri"/>
                <a:ea typeface="Calibri"/>
              </a:rPr>
              <a:t>pico de insucesso</a:t>
            </a:r>
            <a:endParaRPr lang="pt-B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Text 8"/>
          <p:cNvSpPr/>
          <p:nvPr/>
        </p:nvSpPr>
        <p:spPr>
          <a:xfrm>
            <a:off x="731520" y="3474720"/>
            <a:ext cx="457164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rgbClr val="F7941D"/>
                </a:solidFill>
                <a:effectLst/>
                <a:uFillTx/>
                <a:latin typeface="Trebuchet MS"/>
                <a:ea typeface="Trebuchet MS"/>
              </a:rPr>
              <a:t>115× o normal</a:t>
            </a:r>
            <a:endParaRPr lang="pt-B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3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Text 1"/>
          <p:cNvSpPr/>
          <p:nvPr/>
        </p:nvSpPr>
        <p:spPr>
          <a:xfrm>
            <a:off x="457200" y="502920"/>
            <a:ext cx="8229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0A2540"/>
                </a:solidFill>
                <a:effectLst/>
                <a:uFillTx/>
                <a:latin typeface="Trebuchet MS"/>
                <a:ea typeface="Trebuchet MS"/>
              </a:rPr>
              <a:t>Medido, projetado e o que ainda falta</a:t>
            </a:r>
            <a:endParaRPr lang="pt-B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Text 2"/>
          <p:cNvSpPr/>
          <p:nvPr/>
        </p:nvSpPr>
        <p:spPr>
          <a:xfrm>
            <a:off x="457200" y="4846320"/>
            <a:ext cx="457164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pc="201" strike="noStrike">
                <a:solidFill>
                  <a:srgbClr val="5B6B7F"/>
                </a:solidFill>
                <a:effectLst/>
                <a:uFillTx/>
                <a:latin typeface="Calibri"/>
                <a:ea typeface="Calibri"/>
              </a:rPr>
              <a:t>PAINEL DE MONITORAMENTO PIX</a:t>
            </a:r>
            <a:endParaRPr lang="pt-B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Text 3"/>
          <p:cNvSpPr/>
          <p:nvPr/>
        </p:nvSpPr>
        <p:spPr>
          <a:xfrm>
            <a:off x="8229600" y="4846320"/>
            <a:ext cx="45684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5B6B7F"/>
                </a:solidFill>
                <a:effectLst/>
                <a:uFillTx/>
                <a:latin typeface="Calibri"/>
                <a:ea typeface="Calibri"/>
              </a:rPr>
              <a:t>8</a:t>
            </a:r>
            <a:endParaRPr lang="pt-B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Shape 4"/>
          <p:cNvSpPr/>
          <p:nvPr/>
        </p:nvSpPr>
        <p:spPr>
          <a:xfrm>
            <a:off x="457200" y="1325880"/>
            <a:ext cx="2651400" cy="2239920"/>
          </a:xfrm>
          <a:prstGeom prst="rect">
            <a:avLst/>
          </a:prstGeom>
          <a:solidFill>
            <a:srgbClr val="FFFFFF"/>
          </a:solidFill>
          <a:ln w="6350">
            <a:solidFill>
              <a:srgbClr val="E1E7EF"/>
            </a:solidFill>
            <a:round/>
          </a:ln>
          <a:effectLst>
            <a:outerShdw algn="bl" blurRad="101520" dir="8100000" dist="25455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7" name="Shape 5"/>
          <p:cNvSpPr/>
          <p:nvPr/>
        </p:nvSpPr>
        <p:spPr>
          <a:xfrm>
            <a:off x="457200" y="1325880"/>
            <a:ext cx="2651400" cy="72720"/>
          </a:xfrm>
          <a:prstGeom prst="rect">
            <a:avLst/>
          </a:prstGeom>
          <a:solidFill>
            <a:srgbClr val="1E8E5A"/>
          </a:solidFill>
          <a:ln w="12700">
            <a:solidFill>
              <a:srgbClr val="1E8E5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28080" rIns="90000" bIns="28080" anchor="t">
            <a:noAutofit/>
          </a:bodyPr>
          <a:p>
            <a:pPr/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8" name="Text 6"/>
          <p:cNvSpPr/>
          <p:nvPr/>
        </p:nvSpPr>
        <p:spPr>
          <a:xfrm>
            <a:off x="640080" y="1508760"/>
            <a:ext cx="22856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pc="300" strike="noStrike">
                <a:solidFill>
                  <a:srgbClr val="1E8E5A"/>
                </a:solidFill>
                <a:effectLst/>
                <a:uFillTx/>
                <a:latin typeface="Trebuchet MS"/>
                <a:ea typeface="Trebuchet MS"/>
              </a:rPr>
              <a:t>MEDIDO</a:t>
            </a:r>
            <a:endParaRPr lang="pt-B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Text 7"/>
          <p:cNvSpPr/>
          <p:nvPr/>
        </p:nvSpPr>
        <p:spPr>
          <a:xfrm>
            <a:off x="640080" y="1874520"/>
            <a:ext cx="2331360" cy="155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601"/>
              </a:spcAft>
              <a:buClr>
                <a:srgbClr val="1B2733"/>
              </a:buClr>
              <a:buFont typeface="Symbol" charset="2"/>
              <a:buChar char=""/>
            </a:pPr>
            <a:r>
              <a:rPr lang="en-US" sz="1200" b="0" u="none" strike="noStrike">
                <a:solidFill>
                  <a:srgbClr val="1B2733"/>
                </a:solidFill>
                <a:effectLst/>
                <a:uFillTx/>
                <a:latin typeface="Calibri"/>
                <a:ea typeface="Calibri"/>
              </a:rPr>
              <a:t>Volume de transações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601"/>
              </a:spcAft>
              <a:buClr>
                <a:srgbClr val="1B2733"/>
              </a:buClr>
              <a:buFont typeface="Symbol" charset="2"/>
              <a:buChar char=""/>
            </a:pPr>
            <a:r>
              <a:rPr lang="en-US" sz="1200" b="0" u="none" strike="noStrike">
                <a:solidFill>
                  <a:srgbClr val="1B2733"/>
                </a:solidFill>
                <a:effectLst/>
                <a:uFillTx/>
                <a:latin typeface="Calibri"/>
                <a:ea typeface="Calibri"/>
              </a:rPr>
              <a:t>Controle de falhas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601"/>
              </a:spcAft>
              <a:buClr>
                <a:srgbClr val="1B2733"/>
              </a:buClr>
              <a:buFont typeface="Symbol" charset="2"/>
              <a:buChar char=""/>
            </a:pPr>
            <a:r>
              <a:rPr lang="en-US" sz="1200" b="0" u="none" strike="noStrike">
                <a:solidFill>
                  <a:srgbClr val="1B2733"/>
                </a:solidFill>
                <a:effectLst/>
                <a:uFillTx/>
                <a:latin typeface="Calibri"/>
                <a:ea typeface="Calibri"/>
              </a:rPr>
              <a:t>Monitoramento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Shape 8"/>
          <p:cNvSpPr/>
          <p:nvPr/>
        </p:nvSpPr>
        <p:spPr>
          <a:xfrm>
            <a:off x="3246120" y="1325880"/>
            <a:ext cx="2651400" cy="2239920"/>
          </a:xfrm>
          <a:prstGeom prst="rect">
            <a:avLst/>
          </a:prstGeom>
          <a:solidFill>
            <a:srgbClr val="FFFFFF"/>
          </a:solidFill>
          <a:ln w="6350">
            <a:solidFill>
              <a:srgbClr val="E1E7EF"/>
            </a:solidFill>
            <a:round/>
          </a:ln>
          <a:effectLst>
            <a:outerShdw algn="bl" blurRad="101520" dir="8100000" dist="25455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1" name="Shape 9"/>
          <p:cNvSpPr/>
          <p:nvPr/>
        </p:nvSpPr>
        <p:spPr>
          <a:xfrm>
            <a:off x="3246120" y="1325880"/>
            <a:ext cx="2651400" cy="72720"/>
          </a:xfrm>
          <a:prstGeom prst="rect">
            <a:avLst/>
          </a:prstGeom>
          <a:solidFill>
            <a:srgbClr val="F7941D"/>
          </a:solidFill>
          <a:ln w="12700">
            <a:solidFill>
              <a:srgbClr val="F7941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28080" rIns="90000" bIns="28080" anchor="t">
            <a:noAutofit/>
          </a:bodyPr>
          <a:p>
            <a:pPr/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2" name="Text 10"/>
          <p:cNvSpPr/>
          <p:nvPr/>
        </p:nvSpPr>
        <p:spPr>
          <a:xfrm>
            <a:off x="3429000" y="1508760"/>
            <a:ext cx="22856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pc="300" strike="noStrike">
                <a:solidFill>
                  <a:srgbClr val="F7941D"/>
                </a:solidFill>
                <a:effectLst/>
                <a:uFillTx/>
                <a:latin typeface="Trebuchet MS"/>
                <a:ea typeface="Trebuchet MS"/>
              </a:rPr>
              <a:t>PROJETADO</a:t>
            </a:r>
            <a:endParaRPr lang="pt-B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Text 11"/>
          <p:cNvSpPr/>
          <p:nvPr/>
        </p:nvSpPr>
        <p:spPr>
          <a:xfrm>
            <a:off x="3429000" y="1874520"/>
            <a:ext cx="2331360" cy="155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601"/>
              </a:spcAft>
              <a:buClr>
                <a:srgbClr val="1B2733"/>
              </a:buClr>
              <a:buFont typeface="Symbol" charset="2"/>
              <a:buChar char=""/>
            </a:pPr>
            <a:r>
              <a:rPr lang="en-US" sz="1200" b="0" u="none" strike="noStrike">
                <a:solidFill>
                  <a:srgbClr val="1B2733"/>
                </a:solidFill>
                <a:effectLst/>
                <a:uFillTx/>
                <a:latin typeface="Calibri"/>
                <a:ea typeface="Calibri"/>
              </a:rPr>
              <a:t>Rápido processamento de informações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601"/>
              </a:spcAft>
              <a:buClr>
                <a:srgbClr val="1B2733"/>
              </a:buClr>
              <a:buFont typeface="Symbol" charset="2"/>
              <a:buChar char=""/>
            </a:pPr>
            <a:r>
              <a:rPr lang="en-US" sz="1200" b="0" u="none" strike="noStrike">
                <a:solidFill>
                  <a:srgbClr val="1B2733"/>
                </a:solidFill>
                <a:effectLst/>
                <a:uFillTx/>
                <a:latin typeface="Calibri"/>
                <a:ea typeface="Calibri"/>
              </a:rPr>
              <a:t>Atuação assertiva e direcionada para solução definitiva de eventuais problemas.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Shape 12"/>
          <p:cNvSpPr/>
          <p:nvPr/>
        </p:nvSpPr>
        <p:spPr>
          <a:xfrm>
            <a:off x="6035040" y="1325880"/>
            <a:ext cx="2651400" cy="2239920"/>
          </a:xfrm>
          <a:prstGeom prst="rect">
            <a:avLst/>
          </a:prstGeom>
          <a:solidFill>
            <a:srgbClr val="FFFFFF"/>
          </a:solidFill>
          <a:ln w="6350">
            <a:solidFill>
              <a:srgbClr val="E1E7EF"/>
            </a:solidFill>
            <a:round/>
          </a:ln>
          <a:effectLst>
            <a:outerShdw algn="bl" blurRad="101520" dir="8100000" dist="25455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5" name="Shape 13"/>
          <p:cNvSpPr/>
          <p:nvPr/>
        </p:nvSpPr>
        <p:spPr>
          <a:xfrm>
            <a:off x="6035040" y="1325880"/>
            <a:ext cx="2651400" cy="72720"/>
          </a:xfrm>
          <a:prstGeom prst="rect">
            <a:avLst/>
          </a:prstGeom>
          <a:solidFill>
            <a:srgbClr val="005CA9"/>
          </a:solidFill>
          <a:ln w="12700">
            <a:solidFill>
              <a:srgbClr val="005CA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28080" rIns="90000" bIns="28080" anchor="t">
            <a:noAutofit/>
          </a:bodyPr>
          <a:p>
            <a:pPr/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6" name="Text 14"/>
          <p:cNvSpPr/>
          <p:nvPr/>
        </p:nvSpPr>
        <p:spPr>
          <a:xfrm>
            <a:off x="6217920" y="1508760"/>
            <a:ext cx="22856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pc="300" strike="noStrike">
                <a:solidFill>
                  <a:srgbClr val="005CA9"/>
                </a:solidFill>
                <a:effectLst/>
                <a:uFillTx/>
                <a:latin typeface="Trebuchet MS"/>
                <a:ea typeface="Trebuchet MS"/>
              </a:rPr>
              <a:t>COBERTURA</a:t>
            </a:r>
            <a:endParaRPr lang="pt-B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Shape 15"/>
          <p:cNvSpPr/>
          <p:nvPr/>
        </p:nvSpPr>
        <p:spPr>
          <a:xfrm>
            <a:off x="6217920" y="1920240"/>
            <a:ext cx="411120" cy="41112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9AA9B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8" name="Text 16"/>
          <p:cNvSpPr/>
          <p:nvPr/>
        </p:nvSpPr>
        <p:spPr>
          <a:xfrm>
            <a:off x="6217920" y="1920240"/>
            <a:ext cx="41112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5B6B7F"/>
                </a:solidFill>
                <a:effectLst/>
                <a:uFillTx/>
                <a:latin typeface="Calibri"/>
                <a:ea typeface="Calibri"/>
              </a:rPr>
              <a:t>#1</a:t>
            </a:r>
            <a:endParaRPr lang="pt-B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Shape 17"/>
          <p:cNvSpPr/>
          <p:nvPr/>
        </p:nvSpPr>
        <p:spPr>
          <a:xfrm>
            <a:off x="6812280" y="1920240"/>
            <a:ext cx="411120" cy="411120"/>
          </a:xfrm>
          <a:prstGeom prst="ellipse">
            <a:avLst/>
          </a:prstGeom>
          <a:solidFill>
            <a:srgbClr val="005CA9"/>
          </a:solidFill>
          <a:ln w="15875">
            <a:solidFill>
              <a:srgbClr val="005CA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0" name="Text 18"/>
          <p:cNvSpPr/>
          <p:nvPr/>
        </p:nvSpPr>
        <p:spPr>
          <a:xfrm>
            <a:off x="6812280" y="1920240"/>
            <a:ext cx="41112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#2</a:t>
            </a:r>
            <a:endParaRPr lang="pt-B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Shape 19"/>
          <p:cNvSpPr/>
          <p:nvPr/>
        </p:nvSpPr>
        <p:spPr>
          <a:xfrm>
            <a:off x="7406640" y="1920240"/>
            <a:ext cx="411120" cy="411120"/>
          </a:xfrm>
          <a:prstGeom prst="ellipse">
            <a:avLst/>
          </a:prstGeom>
          <a:solidFill>
            <a:srgbClr val="005CA9"/>
          </a:solidFill>
          <a:ln w="15875">
            <a:solidFill>
              <a:srgbClr val="005CA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2" name="Text 20"/>
          <p:cNvSpPr/>
          <p:nvPr/>
        </p:nvSpPr>
        <p:spPr>
          <a:xfrm>
            <a:off x="7406640" y="1920240"/>
            <a:ext cx="41112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#3</a:t>
            </a:r>
            <a:endParaRPr lang="pt-B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Shape 21"/>
          <p:cNvSpPr/>
          <p:nvPr/>
        </p:nvSpPr>
        <p:spPr>
          <a:xfrm>
            <a:off x="8001000" y="1920240"/>
            <a:ext cx="411120" cy="41112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9AA9B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4" name="Text 22"/>
          <p:cNvSpPr/>
          <p:nvPr/>
        </p:nvSpPr>
        <p:spPr>
          <a:xfrm>
            <a:off x="8001000" y="1920240"/>
            <a:ext cx="41112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5B6B7F"/>
                </a:solidFill>
                <a:effectLst/>
                <a:uFillTx/>
                <a:latin typeface="Calibri"/>
                <a:ea typeface="Calibri"/>
              </a:rPr>
              <a:t>#4</a:t>
            </a:r>
            <a:endParaRPr lang="pt-B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Shape 23"/>
          <p:cNvSpPr/>
          <p:nvPr/>
        </p:nvSpPr>
        <p:spPr>
          <a:xfrm>
            <a:off x="6217920" y="2423160"/>
            <a:ext cx="411120" cy="41112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9AA9B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6" name="Text 24"/>
          <p:cNvSpPr/>
          <p:nvPr/>
        </p:nvSpPr>
        <p:spPr>
          <a:xfrm>
            <a:off x="6217920" y="2423160"/>
            <a:ext cx="41112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5B6B7F"/>
                </a:solidFill>
                <a:effectLst/>
                <a:uFillTx/>
                <a:latin typeface="Calibri"/>
                <a:ea typeface="Calibri"/>
              </a:rPr>
              <a:t>#5</a:t>
            </a:r>
            <a:endParaRPr lang="pt-B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Shape 25"/>
          <p:cNvSpPr/>
          <p:nvPr/>
        </p:nvSpPr>
        <p:spPr>
          <a:xfrm>
            <a:off x="6812280" y="2423160"/>
            <a:ext cx="411120" cy="411120"/>
          </a:xfrm>
          <a:prstGeom prst="ellipse">
            <a:avLst/>
          </a:prstGeom>
          <a:solidFill>
            <a:srgbClr val="005CA9"/>
          </a:solidFill>
          <a:ln w="15875">
            <a:solidFill>
              <a:srgbClr val="005CA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8" name="Text 26"/>
          <p:cNvSpPr/>
          <p:nvPr/>
        </p:nvSpPr>
        <p:spPr>
          <a:xfrm>
            <a:off x="6812280" y="2423160"/>
            <a:ext cx="41112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#6</a:t>
            </a:r>
            <a:endParaRPr lang="pt-B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" name="Shape 27"/>
          <p:cNvSpPr/>
          <p:nvPr/>
        </p:nvSpPr>
        <p:spPr>
          <a:xfrm>
            <a:off x="7406640" y="2423160"/>
            <a:ext cx="411120" cy="411120"/>
          </a:xfrm>
          <a:prstGeom prst="ellipse">
            <a:avLst/>
          </a:prstGeom>
          <a:solidFill>
            <a:srgbClr val="005CA9"/>
          </a:solidFill>
          <a:ln w="15875">
            <a:solidFill>
              <a:srgbClr val="005CA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0" name="Text 28"/>
          <p:cNvSpPr/>
          <p:nvPr/>
        </p:nvSpPr>
        <p:spPr>
          <a:xfrm>
            <a:off x="7406640" y="2423160"/>
            <a:ext cx="41112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#7</a:t>
            </a:r>
            <a:endParaRPr lang="pt-B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Shape 29"/>
          <p:cNvSpPr/>
          <p:nvPr/>
        </p:nvSpPr>
        <p:spPr>
          <a:xfrm>
            <a:off x="8001000" y="2423160"/>
            <a:ext cx="411120" cy="411120"/>
          </a:xfrm>
          <a:prstGeom prst="ellipse">
            <a:avLst/>
          </a:prstGeom>
          <a:solidFill>
            <a:srgbClr val="005CA9"/>
          </a:solidFill>
          <a:ln w="15875">
            <a:solidFill>
              <a:srgbClr val="005CA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2" name="Text 30"/>
          <p:cNvSpPr/>
          <p:nvPr/>
        </p:nvSpPr>
        <p:spPr>
          <a:xfrm>
            <a:off x="8001000" y="2423160"/>
            <a:ext cx="41112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#8</a:t>
            </a:r>
            <a:endParaRPr lang="pt-B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" name="Text 31"/>
          <p:cNvSpPr/>
          <p:nvPr/>
        </p:nvSpPr>
        <p:spPr>
          <a:xfrm>
            <a:off x="6217920" y="2971800"/>
            <a:ext cx="228564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0A2540"/>
                </a:solidFill>
                <a:effectLst/>
                <a:uFillTx/>
                <a:latin typeface="Calibri"/>
                <a:ea typeface="Calibri"/>
              </a:rPr>
              <a:t>5 de 8 TMOs atendidos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5B6B7F"/>
                </a:solidFill>
                <a:effectLst/>
                <a:uFillTx/>
                <a:latin typeface="Calibri"/>
                <a:ea typeface="Calibri"/>
              </a:rPr>
              <a:t>Pendentes: #1, #4 e #5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" name="Shape 32"/>
          <p:cNvSpPr/>
          <p:nvPr/>
        </p:nvSpPr>
        <p:spPr>
          <a:xfrm>
            <a:off x="457200" y="3749040"/>
            <a:ext cx="8229240" cy="914040"/>
          </a:xfrm>
          <a:prstGeom prst="rect">
            <a:avLst/>
          </a:prstGeom>
          <a:solidFill>
            <a:srgbClr val="FDEDEE"/>
          </a:solidFill>
          <a:ln w="12700">
            <a:solidFill>
              <a:srgbClr val="FDEDE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5" name="Shape 33"/>
          <p:cNvSpPr/>
          <p:nvPr/>
        </p:nvSpPr>
        <p:spPr>
          <a:xfrm>
            <a:off x="457200" y="3749040"/>
            <a:ext cx="63720" cy="914040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6" name="Text 34"/>
          <p:cNvSpPr/>
          <p:nvPr/>
        </p:nvSpPr>
        <p:spPr>
          <a:xfrm>
            <a:off x="685800" y="3749040"/>
            <a:ext cx="786348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7" name="Image 0" descr="close_bg.png"/>
          <p:cNvPicPr/>
          <p:nvPr/>
        </p:nvPicPr>
        <p:blipFill>
          <a:blip r:embed="rId1"/>
          <a:srcRect l="0" t="5001" r="0" b="10541"/>
          <a:stretch/>
        </p:blipFill>
        <p:spPr>
          <a:xfrm>
            <a:off x="0" y="0"/>
            <a:ext cx="9143640" cy="5143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8" name="Shape 0"/>
          <p:cNvSpPr/>
          <p:nvPr/>
        </p:nvSpPr>
        <p:spPr>
          <a:xfrm>
            <a:off x="0" y="0"/>
            <a:ext cx="9143640" cy="5143320"/>
          </a:xfrm>
          <a:prstGeom prst="rect">
            <a:avLst/>
          </a:prstGeom>
          <a:solidFill>
            <a:srgbClr val="0A2540">
              <a:alpha val="70000"/>
            </a:srgbClr>
          </a:solidFill>
          <a:ln w="12700">
            <a:solidFill>
              <a:srgbClr val="0A2540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9" name="Text 2"/>
          <p:cNvSpPr/>
          <p:nvPr/>
        </p:nvSpPr>
        <p:spPr>
          <a:xfrm>
            <a:off x="640080" y="1005840"/>
            <a:ext cx="76806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i="1" u="none" strike="noStrike">
                <a:solidFill>
                  <a:srgbClr val="CFE3F5"/>
                </a:solidFill>
                <a:effectLst/>
                <a:uFillTx/>
                <a:latin typeface="Calibri"/>
                <a:ea typeface="Calibri"/>
              </a:rPr>
              <a:t>Começamos perguntando se a CAIXA enxerga o PIX com confiança.</a:t>
            </a:r>
            <a:endParaRPr lang="pt-BR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0" name="Text 3"/>
          <p:cNvSpPr/>
          <p:nvPr/>
        </p:nvSpPr>
        <p:spPr>
          <a:xfrm>
            <a:off x="640080" y="1600200"/>
            <a:ext cx="7680600" cy="173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FFFFFF"/>
                </a:solidFill>
                <a:effectLst/>
                <a:uFillTx/>
                <a:latin typeface="Trebuchet MS"/>
                <a:ea typeface="Trebuchet MS"/>
              </a:rPr>
              <a:t>Não mostramos apenas números. Devolvemos à CAIXA a visão estratégica do PIX.</a:t>
            </a:r>
            <a:endParaRPr lang="pt-BR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1" name="Shape 4"/>
          <p:cNvSpPr/>
          <p:nvPr/>
        </p:nvSpPr>
        <p:spPr>
          <a:xfrm>
            <a:off x="640080" y="3520440"/>
            <a:ext cx="7863480" cy="914040"/>
          </a:xfrm>
          <a:prstGeom prst="rect">
            <a:avLst/>
          </a:prstGeom>
          <a:solidFill>
            <a:srgbClr val="F7941D"/>
          </a:solidFill>
          <a:ln w="12700">
            <a:solidFill>
              <a:srgbClr val="F7941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2" name="Text 5"/>
          <p:cNvSpPr/>
          <p:nvPr/>
        </p:nvSpPr>
        <p:spPr>
          <a:xfrm>
            <a:off x="868680" y="3520440"/>
            <a:ext cx="740628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/>
            <a:endParaRPr lang="en-US" sz="1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 pitchFamily="0" charset="1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291</TotalTime>
  <Application>LibreOffice/26.8.1.1$Windows_X86_64 LibreOffice_project/bf6ef2662401c7d6dce671ab4deb26ee0af3a7c1</Application>
  <AppVersion>15.0000</AppVersion>
  <Words>2402</Words>
  <Paragraphs>175</Paragraphs>
  <Company>PptxGenJS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2026-10-21T16:16:11Z</dcterms:created>
  <dc:creator>Gabriel Figueiredo Gomes</dc:creator>
  <dc:description/>
  <dc:language>pt-BR</dc:language>
  <cp:lastModifiedBy/>
  <dcterms:modified xsi:type="dcterms:W3CDTF">2026-10-21T22:49:12Z</dcterms:modified>
  <cp:revision>3</cp:revision>
  <dc:subject>PptxGenJS Presentation</dc:subject>
  <dc:title>Painel de Monitoramento PIX – Pitch de impacto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HiddenSlides">
    <vt:i4>4</vt:i4>
  </property>
  <property fmtid="{D5CDD505-2E9C-101B-9397-08002B2CF9AE}" pid="3" name="MSIP_Label_f1a47ad8-907a-4afd-bc2a-6b2ee4f96f0c_ActionId">
    <vt:lpwstr>34d4984e-c7e7-4f43-92fa-0a02a3999685</vt:lpwstr>
  </property>
  <property fmtid="{D5CDD505-2E9C-101B-9397-08002B2CF9AE}" pid="4" name="MSIP_Label_f1a47ad8-907a-4afd-bc2a-6b2ee4f96f0c_ContentBits">
    <vt:lpwstr>0</vt:lpwstr>
  </property>
  <property fmtid="{D5CDD505-2E9C-101B-9397-08002B2CF9AE}" pid="5" name="MSIP_Label_f1a47ad8-907a-4afd-bc2a-6b2ee4f96f0c_Enabled">
    <vt:lpwstr>true</vt:lpwstr>
  </property>
  <property fmtid="{D5CDD505-2E9C-101B-9397-08002B2CF9AE}" pid="6" name="MSIP_Label_f1a47ad8-907a-4afd-bc2a-6b2ee4f96f0c_Method">
    <vt:lpwstr>Privileged</vt:lpwstr>
  </property>
  <property fmtid="{D5CDD505-2E9C-101B-9397-08002B2CF9AE}" pid="7" name="MSIP_Label_f1a47ad8-907a-4afd-bc2a-6b2ee4f96f0c_Name">
    <vt:lpwstr>#EXTERNO_CONFIDENCIAL</vt:lpwstr>
  </property>
  <property fmtid="{D5CDD505-2E9C-101B-9397-08002B2CF9AE}" pid="8" name="MSIP_Label_f1a47ad8-907a-4afd-bc2a-6b2ee4f96f0c_SetDate">
    <vt:lpwstr>2026-10-21T16:16:12Z</vt:lpwstr>
  </property>
  <property fmtid="{D5CDD505-2E9C-101B-9397-08002B2CF9AE}" pid="9" name="MSIP_Label_f1a47ad8-907a-4afd-bc2a-6b2ee4f96f0c_SiteId">
    <vt:lpwstr>ab9bba98-684a-43fb-add8-9c2bebede229</vt:lpwstr>
  </property>
  <property fmtid="{D5CDD505-2E9C-101B-9397-08002B2CF9AE}" pid="10" name="Notes">
    <vt:i4>12</vt:i4>
  </property>
  <property fmtid="{D5CDD505-2E9C-101B-9397-08002B2CF9AE}" pid="11" name="PresentationFormat">
    <vt:lpwstr>Apresentação na tela (16:9)</vt:lpwstr>
  </property>
  <property fmtid="{D5CDD505-2E9C-101B-9397-08002B2CF9AE}" pid="12" name="Slides">
    <vt:i4>12</vt:i4>
  </property>
</Properties>
</file>