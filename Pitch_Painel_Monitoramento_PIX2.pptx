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370" autoAdjust="0"/>
  </p:normalViewPr>
  <p:slideViewPr>
    <p:cSldViewPr snapToGrid="0">
      <p:cViewPr varScale="1">
        <p:scale>
          <a:sx n="101" d="100"/>
          <a:sy n="101" d="100"/>
        </p:scale>
        <p:origin x="19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E32C56-9F4F-4E74-B962-E7D3380AA7BE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"Eu gostaria de começar com uma pergunta simples: o que é confiança?"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(pausa de 2 a 3 segundos)</a:t>
            </a:r>
          </a:p>
          <a:p>
            <a:pPr indent="0" algn="l">
              <a:lnSpc>
                <a:spcPct val="100000"/>
              </a:lnSpc>
              <a:buNone/>
            </a:pPr>
            <a:endParaRPr lang="pt-BR" sz="1200" b="1" u="none" strike="noStrike" dirty="0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  <a:p>
            <a:pPr indent="0" algn="l">
              <a:lnSpc>
                <a:spcPct val="100000"/>
              </a:lnSpc>
              <a:buNone/>
            </a:pPr>
            <a:endParaRPr lang="pt-BR" sz="1200" b="1" u="none" strike="noStrike" dirty="0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Confiança é a "Credibilidade ou conceito positivo que se tem a respeito 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de alguém ou de algo; crédito, segurança."</a:t>
            </a:r>
          </a:p>
          <a:p>
            <a:pPr indent="0" algn="l">
              <a:lnSpc>
                <a:spcPct val="100000"/>
              </a:lnSpc>
              <a:buNone/>
            </a:pPr>
            <a:endParaRPr lang="pt-BR" sz="1200" b="1" u="none" strike="noStrike" dirty="0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  <a:p>
            <a:pPr indent="0" algn="l">
              <a:lnSpc>
                <a:spcPct val="100000"/>
              </a:lnSpc>
              <a:buNone/>
            </a:pPr>
            <a:endParaRPr lang="pt-BR" sz="1200" b="1" u="none" strike="noStrike" dirty="0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Pense em uma relação pessoal. 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Confiamos em alguém quando a pessoa é coerente, 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quando o que ela diz bate com o que ela faz. </a:t>
            </a:r>
          </a:p>
          <a:p>
            <a:pPr indent="0" algn="l">
              <a:lnSpc>
                <a:spcPct val="100000"/>
              </a:lnSpc>
              <a:buNone/>
            </a:pPr>
            <a:endParaRPr lang="pt-BR" sz="1200" b="1" u="none" strike="noStrike" dirty="0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Confiamos quando ela é transparente e 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não esconde informações importantes. </a:t>
            </a:r>
          </a:p>
          <a:p>
            <a:pPr indent="0" algn="l">
              <a:lnSpc>
                <a:spcPct val="100000"/>
              </a:lnSpc>
              <a:buNone/>
            </a:pPr>
            <a:endParaRPr lang="pt-BR" sz="1200" b="1" u="none" strike="noStrike" dirty="0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 confiamos quando ela é consistente, 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quando podemos contar com ela hoje, 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amanhã e quando surge um problema.</a:t>
            </a:r>
            <a:endParaRPr lang="pt-B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676EE7-096A-477B-84C9-01A4C454DA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"Eu gostaria de começar com uma pergunta simples: o que é confiança?"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i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(pausa de 2 a 3 segundos)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Confiança é a segurança de que podemos contar com algo ou com alguém. É acreditar que aquilo que vemos corresponde ao que realmente acontece.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Pense em uma relação pessoal. Confiamos em alguém quando a pessoa é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coerente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, quando o que ela diz bate com o que ela faz. Confiamos quando ela é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consistente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, quando podemos contar com ela hoje, amanhã e quando surge um problema.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Mas existe uma característica da confiança que todos conhecemos: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ela leva tempo para ser construída e pode ser abalada por uma única falha.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Para um banco, isso é ainda mais forte. Confiança não é apenas um valor.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É a base do nosso negócio.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 O cliente confia que o seu dinheiro estará seguro, que a transação vai acontecer e que o banco vai responder quando algo der errado.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 aqui vem uma questão importante: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para merecer a confiança do cliente, primeiro precisamos confiar nos nossos próprios dados.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Porque nenhuma decisão é melhor do que a informação que a sustenta.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Então eu pergunto: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hoje, como está o cenário nas transações PIX na construção dessa confiança?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6060C2-370B-47E9-8D6F-EA96E58EAC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Para um banco, isso é ainda mais forte. Confiança não é apenas um valor. 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É a base do nosso negócio. O cliente confia que o seu dinheiro estará seguro, </a:t>
            </a: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que a transação vai acontecer e que o banco vai responder quando algo der errado.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E aqui vem uma questão importante: para merecer a confiança do cliente, </a:t>
            </a: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primeiro precisamos confiar nos nossos próprios dados.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+mn-lt"/>
            </a:endParaRP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+mn-lt"/>
              </a:rPr>
              <a:t>Porque nenhuma decisão é melhor do que a informação que a sustenta.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ACED83-4C89-4903-A40F-80256330AB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Dentro do fluxo na esteira do PIX, a transação passa por vários sistemas internamente e externos até sua conclusão. Portanto é importante conseguir visualizar todo o caminho com confiança e segurança.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3B4B62-43FB-43C1-AD0C-A9864C574A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 que foi feito? </a:t>
            </a: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Agora buscamos os dados, de uma única fonte, todas as informações da transação.</a:t>
            </a: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 partir dela conseguimos reunir todos os </a:t>
            </a:r>
            <a:r>
              <a:rPr lang="pt-BR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KPI´s</a:t>
            </a: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aplicar filtros de interesse que mais importam para o gestor.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Com toda informação da operação mapeada, com a estrutura de dados monta, conseguimos automatizar a atualização diária das informações. E com o monitoramento estruturado conseguimos ter a segurança de que os dados foram carregados. Trazendo a confiança que a gestão necessita.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C21802-9D3A-404D-BFF2-7AB4611F4D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Um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exemplo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claro dessa nova forma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acompanhamento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foi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pronta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identificação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um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incidente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no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último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dia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14/10. </a:t>
            </a:r>
          </a:p>
          <a:p>
            <a:pPr indent="0" algn="l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seria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mapeado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apenas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como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um volume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maior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falhas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na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esteira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transação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já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foi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quantificada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classificada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com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identificação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evento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teve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maior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percentual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ocorrências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22137C-066D-416B-A2F5-7BA006CA1E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E o que já temos, hoje?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Com esse trabalho estruturado, conseguimos medir o volume de transações não só diário como em período específico de acordo com a necessidade do gestor.</a:t>
            </a: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Identificamos, classificamos e quantificamos as falhas acompanhando dia a dia.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Ganhamos velocidade no processamento das informações permitindo uma atuação direcionada e assertiva para não só manter a esteira funcionando como para resolução definitiva dos eventuais problemas.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pt-BR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Atendemos as necessidades do gestor medindo taxa de sucesso/insucesso, o acompanhamento diário também com análises temporais e o mapeamento das falhas para investigação e identificação de problemas.</a:t>
            </a: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439E06-C7CE-4ECF-80D1-D026281D63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731636-C242-4F86-B4EF-73885DA052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Imagem gerada por IA: fluxos de dados em azul e ciano, com foco visual à direita."/>
          <p:cNvPicPr/>
          <p:nvPr/>
        </p:nvPicPr>
        <p:blipFill>
          <a:blip r:embed="rId3"/>
          <a:srcRect t="28" b="28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637560" y="1048680"/>
            <a:ext cx="5120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Grupo</a:t>
            </a:r>
            <a:endParaRPr lang="pt-BR" sz="3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br>
              <a:rPr sz="3200" dirty="0"/>
            </a:br>
            <a:r>
              <a:rPr lang="pt-BR" sz="1600" b="0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Danilo dos Santos Pinto</a:t>
            </a:r>
            <a:endParaRPr lang="pt-BR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Eduardo Constantino de Oliveira</a:t>
            </a:r>
            <a:endParaRPr lang="pt-BR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Gabriel Figueiredo Gomes</a:t>
            </a:r>
            <a:endParaRPr lang="pt-BR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Leonardo da Cruz Jordao</a:t>
            </a:r>
            <a:endParaRPr lang="pt-BR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Mariana Cristina </a:t>
            </a:r>
            <a:r>
              <a:rPr lang="pt-BR" sz="1600" b="0" u="none" strike="noStrike" dirty="0" err="1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Gritzenco</a:t>
            </a:r>
            <a:r>
              <a:rPr lang="pt-BR" sz="1600" b="0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 dos Santos</a:t>
            </a:r>
            <a:endParaRPr lang="pt-BR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 dirty="0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Vinicius Hiroshi Sato</a:t>
            </a:r>
            <a:endParaRPr lang="pt-BR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3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hook_bg.png"/>
          <p:cNvPicPr/>
          <p:nvPr/>
        </p:nvPicPr>
        <p:blipFill>
          <a:blip r:embed="rId3"/>
          <a:srcRect t="5001" b="1054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Shape 0"/>
          <p:cNvSpPr/>
          <p:nvPr/>
        </p:nvSpPr>
        <p:spPr>
          <a:xfrm>
            <a:off x="0" y="0"/>
            <a:ext cx="6034680" cy="5143320"/>
          </a:xfrm>
          <a:prstGeom prst="rect">
            <a:avLst/>
          </a:prstGeom>
          <a:solidFill>
            <a:srgbClr val="0A2540">
              <a:alpha val="88000"/>
            </a:srgbClr>
          </a:solidFill>
          <a:ln w="12700">
            <a:solidFill>
              <a:srgbClr val="0A254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2"/>
          <p:cNvSpPr/>
          <p:nvPr/>
        </p:nvSpPr>
        <p:spPr>
          <a:xfrm>
            <a:off x="1389960" y="2206080"/>
            <a:ext cx="5120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que é confiança?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hook_bg.png"/>
          <p:cNvPicPr/>
          <p:nvPr/>
        </p:nvPicPr>
        <p:blipFill>
          <a:blip r:embed="rId3"/>
          <a:srcRect t="5001" b="1054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6034680" cy="5143320"/>
          </a:xfrm>
          <a:prstGeom prst="rect">
            <a:avLst/>
          </a:prstGeom>
          <a:solidFill>
            <a:srgbClr val="0A2540">
              <a:alpha val="88000"/>
            </a:srgbClr>
          </a:solidFill>
          <a:ln w="12700">
            <a:solidFill>
              <a:srgbClr val="0A254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48640" y="2034720"/>
            <a:ext cx="5120280" cy="153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 CAIXA enxerga, com confiança, a própria carteira PIX?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"/>
          <p:cNvSpPr/>
          <p:nvPr/>
        </p:nvSpPr>
        <p:spPr>
          <a:xfrm>
            <a:off x="457200" y="5029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O problema não é técnico. É de visibilidade.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5720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201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PAINEL DE MONITORAMENTO PIX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8229600" y="484632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4937761" y="1239368"/>
            <a:ext cx="3434715" cy="28284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2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4937761" y="1239368"/>
            <a:ext cx="82545" cy="28284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5166362" y="1297372"/>
            <a:ext cx="591806" cy="642427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4" name="Image 2" descr="preencoded.png"/>
          <p:cNvPicPr/>
          <p:nvPr/>
        </p:nvPicPr>
        <p:blipFill>
          <a:blip r:embed="rId3"/>
          <a:stretch/>
        </p:blipFill>
        <p:spPr>
          <a:xfrm>
            <a:off x="5276161" y="1407172"/>
            <a:ext cx="307329" cy="33361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17"/>
          <p:cNvSpPr/>
          <p:nvPr/>
        </p:nvSpPr>
        <p:spPr>
          <a:xfrm>
            <a:off x="5128261" y="2151862"/>
            <a:ext cx="2960897" cy="6424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Por </a:t>
            </a:r>
            <a:r>
              <a:rPr lang="en-US" sz="2000" b="1" u="none" strike="noStrike" dirty="0" err="1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que</a:t>
            </a:r>
            <a:r>
              <a:rPr lang="en-US" sz="2000" b="1" u="none" strike="noStrike" dirty="0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 </a:t>
            </a:r>
            <a:r>
              <a:rPr lang="en-US" sz="2000" b="1" u="none" strike="noStrike" dirty="0" err="1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importa</a:t>
            </a:r>
            <a:r>
              <a:rPr lang="en-US" sz="2000" b="1" u="none" strike="noStrike" dirty="0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 à </a:t>
            </a:r>
            <a:r>
              <a:rPr lang="en-US" sz="2000" b="1" u="none" strike="noStrike" dirty="0" err="1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liderança</a:t>
            </a:r>
            <a:r>
              <a:rPr lang="en-US" sz="2000" b="1" u="none" strike="noStrike" dirty="0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?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5368817" y="2884788"/>
            <a:ext cx="2720341" cy="109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O PIX é </a:t>
            </a:r>
            <a:r>
              <a:rPr lang="en-US" sz="16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indutor</a:t>
            </a:r>
            <a:r>
              <a:rPr lang="en-US" sz="16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6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relacionamento</a:t>
            </a:r>
            <a:r>
              <a:rPr lang="en-US" sz="16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6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coloca</a:t>
            </a:r>
            <a:r>
              <a:rPr lang="en-US" sz="16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1600" dirty="0">
                <a:solidFill>
                  <a:srgbClr val="1B2733"/>
                </a:solidFill>
                <a:latin typeface="Calibri"/>
                <a:ea typeface="Calibri"/>
              </a:rPr>
              <a:t>Caixa </a:t>
            </a:r>
            <a:r>
              <a:rPr lang="en-US" sz="1600" dirty="0" err="1">
                <a:solidFill>
                  <a:srgbClr val="1B2733"/>
                </a:solidFill>
                <a:latin typeface="Calibri"/>
                <a:ea typeface="Calibri"/>
              </a:rPr>
              <a:t>como</a:t>
            </a:r>
            <a:r>
              <a:rPr lang="en-US" sz="1600" dirty="0">
                <a:solidFill>
                  <a:srgbClr val="1B2733"/>
                </a:solidFill>
                <a:latin typeface="Calibri"/>
                <a:ea typeface="Calibri"/>
              </a:rPr>
              <a:t> principal banco do </a:t>
            </a:r>
            <a:r>
              <a:rPr lang="en-US" sz="1600" dirty="0" err="1">
                <a:solidFill>
                  <a:srgbClr val="1B2733"/>
                </a:solidFill>
                <a:latin typeface="Calibri"/>
                <a:ea typeface="Calibri"/>
              </a:rPr>
              <a:t>cliente</a:t>
            </a:r>
            <a:r>
              <a:rPr lang="en-US" sz="16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pt-B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56801" y="1591200"/>
            <a:ext cx="3349440" cy="2367915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1300576" y="2105288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 dirty="0">
                <a:solidFill>
                  <a:srgbClr val="F7941D"/>
                </a:solidFill>
                <a:effectLst/>
                <a:uFillTx/>
                <a:latin typeface="Trebuchet MS"/>
                <a:ea typeface="Trebuchet MS"/>
              </a:rPr>
              <a:t>71,6%</a:t>
            </a:r>
            <a:endParaRPr lang="pt-BR" sz="6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1300576" y="2996122"/>
            <a:ext cx="2521860" cy="7914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</a:rPr>
              <a:t>De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rejeições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não</a:t>
            </a:r>
            <a:r>
              <a:rPr lang="en-US" sz="20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0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classificadas</a:t>
            </a:r>
            <a:endParaRPr lang="pt-B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1"/>
          <p:cNvSpPr/>
          <p:nvPr/>
        </p:nvSpPr>
        <p:spPr>
          <a:xfrm>
            <a:off x="457200" y="5029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Funcionando: da fonte única ao dashboard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5720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201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PAINEL DE MONITORAMENTO PIX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8229600" y="484632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457200" y="1325880"/>
            <a:ext cx="1481040" cy="21484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567000" y="1463040"/>
            <a:ext cx="420120" cy="420120"/>
          </a:xfrm>
          <a:prstGeom prst="ellipse">
            <a:avLst/>
          </a:prstGeom>
          <a:solidFill>
            <a:srgbClr val="005CA9"/>
          </a:solidFill>
          <a:ln w="12700">
            <a:solidFill>
              <a:srgbClr val="005C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" name="Image 0" descr="preencoded.png"/>
          <p:cNvPicPr/>
          <p:nvPr/>
        </p:nvPicPr>
        <p:blipFill>
          <a:blip r:embed="rId3"/>
          <a:stretch/>
        </p:blipFill>
        <p:spPr>
          <a:xfrm>
            <a:off x="676800" y="1572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6"/>
          <p:cNvSpPr/>
          <p:nvPr/>
        </p:nvSpPr>
        <p:spPr>
          <a:xfrm>
            <a:off x="567000" y="1984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Fonte única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67000" y="2286000"/>
            <a:ext cx="12981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Tabela de dados brutos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1956960" y="2286000"/>
            <a:ext cx="1735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2144160" y="1325880"/>
            <a:ext cx="1481040" cy="21484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2253960" y="1463040"/>
            <a:ext cx="420120" cy="420120"/>
          </a:xfrm>
          <a:prstGeom prst="ellipse">
            <a:avLst/>
          </a:prstGeom>
          <a:solidFill>
            <a:srgbClr val="005CA9"/>
          </a:solidFill>
          <a:ln w="12700">
            <a:solidFill>
              <a:srgbClr val="005C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1" name="Image 1" descr="preencoded.png"/>
          <p:cNvPicPr/>
          <p:nvPr/>
        </p:nvPicPr>
        <p:blipFill>
          <a:blip r:embed="rId4"/>
          <a:stretch/>
        </p:blipFill>
        <p:spPr>
          <a:xfrm>
            <a:off x="2363760" y="1572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1"/>
          <p:cNvSpPr/>
          <p:nvPr/>
        </p:nvSpPr>
        <p:spPr>
          <a:xfrm>
            <a:off x="2253960" y="1984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Cam1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2253960" y="2286000"/>
            <a:ext cx="12981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Agregação e contabilização dos KPI´s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3643920" y="2286000"/>
            <a:ext cx="1735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Shape 14"/>
          <p:cNvSpPr/>
          <p:nvPr/>
        </p:nvSpPr>
        <p:spPr>
          <a:xfrm>
            <a:off x="3831480" y="1325880"/>
            <a:ext cx="1481040" cy="2148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7941D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15"/>
          <p:cNvSpPr/>
          <p:nvPr/>
        </p:nvSpPr>
        <p:spPr>
          <a:xfrm>
            <a:off x="3940920" y="1463040"/>
            <a:ext cx="420120" cy="420120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7" name="Image 2" descr="preencoded.png"/>
          <p:cNvPicPr/>
          <p:nvPr/>
        </p:nvPicPr>
        <p:blipFill>
          <a:blip r:embed="rId5"/>
          <a:stretch/>
        </p:blipFill>
        <p:spPr>
          <a:xfrm>
            <a:off x="4050720" y="1572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16"/>
          <p:cNvSpPr/>
          <p:nvPr/>
        </p:nvSpPr>
        <p:spPr>
          <a:xfrm>
            <a:off x="3940920" y="1984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Cam2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3940920" y="2286000"/>
            <a:ext cx="12981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Cruzamento de dados com filtro por grupo de interesse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8"/>
          <p:cNvSpPr/>
          <p:nvPr/>
        </p:nvSpPr>
        <p:spPr>
          <a:xfrm>
            <a:off x="5330880" y="2286000"/>
            <a:ext cx="1735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Shape 19"/>
          <p:cNvSpPr/>
          <p:nvPr/>
        </p:nvSpPr>
        <p:spPr>
          <a:xfrm>
            <a:off x="5518440" y="1325880"/>
            <a:ext cx="1481040" cy="21484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20"/>
          <p:cNvSpPr/>
          <p:nvPr/>
        </p:nvSpPr>
        <p:spPr>
          <a:xfrm>
            <a:off x="5628240" y="1463040"/>
            <a:ext cx="420120" cy="420120"/>
          </a:xfrm>
          <a:prstGeom prst="ellipse">
            <a:avLst/>
          </a:prstGeom>
          <a:solidFill>
            <a:srgbClr val="005CA9"/>
          </a:solidFill>
          <a:ln w="12700">
            <a:solidFill>
              <a:srgbClr val="005C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" name="Image 3" descr="preencoded.png"/>
          <p:cNvPicPr/>
          <p:nvPr/>
        </p:nvPicPr>
        <p:blipFill>
          <a:blip r:embed="rId6"/>
          <a:stretch/>
        </p:blipFill>
        <p:spPr>
          <a:xfrm>
            <a:off x="5738040" y="1572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21"/>
          <p:cNvSpPr/>
          <p:nvPr/>
        </p:nvSpPr>
        <p:spPr>
          <a:xfrm>
            <a:off x="5628240" y="1984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Automação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5628240" y="2286000"/>
            <a:ext cx="12981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Job </a:t>
            </a:r>
            <a:r>
              <a:rPr lang="pt-BR" sz="10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disparado</a:t>
            </a:r>
            <a:r>
              <a:rPr lang="en-US" sz="10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por atualização de tabela, inicia atualização diária automaticamente ao término do processamento principal.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3"/>
          <p:cNvSpPr/>
          <p:nvPr/>
        </p:nvSpPr>
        <p:spPr>
          <a:xfrm>
            <a:off x="7018200" y="2286000"/>
            <a:ext cx="173520" cy="228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Shape 24"/>
          <p:cNvSpPr/>
          <p:nvPr/>
        </p:nvSpPr>
        <p:spPr>
          <a:xfrm>
            <a:off x="7205400" y="1325880"/>
            <a:ext cx="1481040" cy="21484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Shape 25"/>
          <p:cNvSpPr/>
          <p:nvPr/>
        </p:nvSpPr>
        <p:spPr>
          <a:xfrm>
            <a:off x="7315200" y="1463040"/>
            <a:ext cx="420120" cy="420120"/>
          </a:xfrm>
          <a:prstGeom prst="ellipse">
            <a:avLst/>
          </a:prstGeom>
          <a:solidFill>
            <a:srgbClr val="005CA9"/>
          </a:solidFill>
          <a:ln w="12700">
            <a:solidFill>
              <a:srgbClr val="005C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Image 4" descr="preencoded.png"/>
          <p:cNvPicPr/>
          <p:nvPr/>
        </p:nvPicPr>
        <p:blipFill>
          <a:blip r:embed="rId7"/>
          <a:stretch/>
        </p:blipFill>
        <p:spPr>
          <a:xfrm>
            <a:off x="7425000" y="15728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26"/>
          <p:cNvSpPr/>
          <p:nvPr/>
        </p:nvSpPr>
        <p:spPr>
          <a:xfrm>
            <a:off x="7315200" y="1984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Dashboard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7315200" y="2286000"/>
            <a:ext cx="12981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Seis páginas, gráficos diários, métricas que apoiam a tomada de decisão.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388BFB-A7E8-E22D-0784-0CF7291F711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8975" b="21254"/>
          <a:stretch>
            <a:fillRect/>
          </a:stretch>
        </p:blipFill>
        <p:spPr>
          <a:xfrm>
            <a:off x="326939" y="3601306"/>
            <a:ext cx="850273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1"/>
          <p:cNvSpPr/>
          <p:nvPr/>
        </p:nvSpPr>
        <p:spPr>
          <a:xfrm>
            <a:off x="457200" y="5029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O painel enxerga o que antes era invisível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45720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201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PAINEL DE MONITORAMENTO PIX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8229600" y="484632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457200" y="1325880"/>
            <a:ext cx="4163291" cy="275428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5"/>
          <p:cNvSpPr/>
          <p:nvPr/>
        </p:nvSpPr>
        <p:spPr>
          <a:xfrm>
            <a:off x="731520" y="15087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300">
                <a:solidFill>
                  <a:srgbClr val="F7941D"/>
                </a:solidFill>
                <a:effectLst/>
                <a:uFillTx/>
                <a:latin typeface="Calibri"/>
                <a:ea typeface="Calibri"/>
              </a:rPr>
              <a:t>14/OUT · </a:t>
            </a:r>
            <a:r>
              <a:rPr lang="en-US" sz="1100" b="1" spc="300">
                <a:solidFill>
                  <a:srgbClr val="F7941D"/>
                </a:solidFill>
                <a:latin typeface="Calibri"/>
                <a:ea typeface="Calibri"/>
              </a:rPr>
              <a:t>ERRO DE </a:t>
            </a:r>
            <a:r>
              <a:rPr lang="en-US" sz="1100" b="1" u="none" strike="noStrike" spc="300">
                <a:solidFill>
                  <a:srgbClr val="F7941D"/>
                </a:solidFill>
                <a:effectLst/>
                <a:uFillTx/>
                <a:latin typeface="Calibri"/>
                <a:ea typeface="Calibri"/>
              </a:rPr>
              <a:t>FALHA NA LIQUIDAÇÃO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731520" y="1828800"/>
            <a:ext cx="45716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6,73%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731520" y="30175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FE3F5"/>
                </a:solidFill>
                <a:effectLst/>
                <a:uFillTx/>
                <a:latin typeface="Calibri"/>
                <a:ea typeface="Calibri"/>
              </a:rPr>
              <a:t>pico de insucesso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731520" y="347472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7941D"/>
                </a:solidFill>
                <a:effectLst/>
                <a:uFillTx/>
                <a:latin typeface="Trebuchet MS"/>
                <a:ea typeface="Trebuchet MS"/>
              </a:rPr>
              <a:t>115× o normal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4A29716-74F5-FCE0-75EE-FA77A0DC0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851" y="2229956"/>
            <a:ext cx="4865589" cy="2124888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1"/>
          <p:cNvSpPr/>
          <p:nvPr/>
        </p:nvSpPr>
        <p:spPr>
          <a:xfrm>
            <a:off x="457200" y="5029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A2540"/>
                </a:solidFill>
                <a:effectLst/>
                <a:uFillTx/>
                <a:latin typeface="Trebuchet MS"/>
                <a:ea typeface="Trebuchet MS"/>
              </a:rPr>
              <a:t>Medido, projetado e o que ainda falta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457200" y="48463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spc="201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PAINEL DE MONITORAMENTO PIX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8229600" y="484632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457200" y="1325880"/>
            <a:ext cx="2651400" cy="2239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457200" y="1325880"/>
            <a:ext cx="2651400" cy="72720"/>
          </a:xfrm>
          <a:prstGeom prst="rect">
            <a:avLst/>
          </a:prstGeom>
          <a:solidFill>
            <a:srgbClr val="1E8E5A"/>
          </a:solidFill>
          <a:ln w="12700">
            <a:solidFill>
              <a:srgbClr val="1E8E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6"/>
          <p:cNvSpPr/>
          <p:nvPr/>
        </p:nvSpPr>
        <p:spPr>
          <a:xfrm>
            <a:off x="640080" y="15087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00">
                <a:solidFill>
                  <a:srgbClr val="1E8E5A"/>
                </a:solidFill>
                <a:effectLst/>
                <a:uFillTx/>
                <a:latin typeface="Trebuchet MS"/>
                <a:ea typeface="Trebuchet MS"/>
              </a:rPr>
              <a:t>MEDIDO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640080" y="1874520"/>
            <a:ext cx="23313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Volume de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transações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;</a:t>
            </a:r>
            <a:endParaRPr lang="pt-B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Sinalização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classificação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falhas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;</a:t>
            </a:r>
            <a:endParaRPr lang="pt-B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Monitoramento do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processamento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diário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pt-B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3246120" y="1325880"/>
            <a:ext cx="2651400" cy="2239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3246120" y="1325880"/>
            <a:ext cx="2651400" cy="727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3429000" y="15087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00">
                <a:solidFill>
                  <a:srgbClr val="F7941D"/>
                </a:solidFill>
                <a:effectLst/>
                <a:uFillTx/>
                <a:latin typeface="Trebuchet MS"/>
                <a:ea typeface="Trebuchet MS"/>
              </a:rPr>
              <a:t>PROJETADO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3429000" y="1874520"/>
            <a:ext cx="22856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Maior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velocidade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no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processamento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informações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;</a:t>
            </a: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Atuação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direcionada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assertiva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para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solução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definitiva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eventuais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problemas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pt-B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2"/>
          <p:cNvSpPr/>
          <p:nvPr/>
        </p:nvSpPr>
        <p:spPr>
          <a:xfrm>
            <a:off x="6035040" y="1325880"/>
            <a:ext cx="2651400" cy="2239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F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6035040" y="1325880"/>
            <a:ext cx="2651400" cy="72720"/>
          </a:xfrm>
          <a:prstGeom prst="rect">
            <a:avLst/>
          </a:prstGeom>
          <a:solidFill>
            <a:srgbClr val="005CA9"/>
          </a:solidFill>
          <a:ln w="12700">
            <a:solidFill>
              <a:srgbClr val="005CA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6217920" y="15087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spc="300">
                <a:solidFill>
                  <a:srgbClr val="005CA9"/>
                </a:solidFill>
                <a:effectLst/>
                <a:uFillTx/>
                <a:latin typeface="Trebuchet MS"/>
                <a:ea typeface="Trebuchet MS"/>
              </a:rPr>
              <a:t>COBERTURA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4"/>
          <p:cNvSpPr/>
          <p:nvPr/>
        </p:nvSpPr>
        <p:spPr>
          <a:xfrm>
            <a:off x="685800" y="3749040"/>
            <a:ext cx="78634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C75D7D44-97C0-12BD-1931-00F7EB53DA86}"/>
              </a:ext>
            </a:extLst>
          </p:cNvPr>
          <p:cNvSpPr/>
          <p:nvPr/>
        </p:nvSpPr>
        <p:spPr>
          <a:xfrm>
            <a:off x="6172200" y="1874520"/>
            <a:ext cx="23313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Taxa de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insucesso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;</a:t>
            </a: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dirty="0" err="1">
                <a:solidFill>
                  <a:srgbClr val="1B2733"/>
                </a:solidFill>
                <a:latin typeface="Calibri"/>
                <a:ea typeface="Calibri"/>
              </a:rPr>
              <a:t>Acompanhamento</a:t>
            </a:r>
            <a:r>
              <a:rPr lang="en-US" sz="1200" dirty="0">
                <a:solidFill>
                  <a:srgbClr val="1B2733"/>
                </a:solidFill>
                <a:latin typeface="Calibri"/>
                <a:ea typeface="Calibri"/>
              </a:rPr>
              <a:t> </a:t>
            </a:r>
            <a:r>
              <a:rPr lang="en-US" sz="1200" dirty="0" err="1">
                <a:solidFill>
                  <a:srgbClr val="1B2733"/>
                </a:solidFill>
                <a:latin typeface="Calibri"/>
                <a:ea typeface="Calibri"/>
              </a:rPr>
              <a:t>diário</a:t>
            </a:r>
            <a:r>
              <a:rPr lang="en-US" sz="1200" dirty="0">
                <a:solidFill>
                  <a:srgbClr val="1B2733"/>
                </a:solidFill>
                <a:latin typeface="Calibri"/>
                <a:ea typeface="Calibri"/>
              </a:rPr>
              <a:t> e </a:t>
            </a:r>
            <a:r>
              <a:rPr lang="en-US" sz="1200" dirty="0" err="1">
                <a:solidFill>
                  <a:srgbClr val="1B2733"/>
                </a:solidFill>
                <a:latin typeface="Calibri"/>
                <a:ea typeface="Calibri"/>
              </a:rPr>
              <a:t>análise</a:t>
            </a:r>
            <a:r>
              <a:rPr lang="en-US" sz="1200" dirty="0">
                <a:solidFill>
                  <a:srgbClr val="1B2733"/>
                </a:solidFill>
                <a:latin typeface="Calibri"/>
                <a:ea typeface="Calibri"/>
              </a:rPr>
              <a:t> temporal.</a:t>
            </a:r>
            <a:endParaRPr lang="en-US" sz="1200" b="0" u="none" strike="noStrike" dirty="0">
              <a:solidFill>
                <a:srgbClr val="1B2733"/>
              </a:solidFill>
              <a:effectLst/>
              <a:uFillTx/>
              <a:latin typeface="Calibri"/>
              <a:ea typeface="Calibri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Mapeamento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para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investigação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problemas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sistêmicos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 e </a:t>
            </a:r>
            <a:r>
              <a:rPr lang="en-US" sz="1200" b="0" u="none" strike="noStrike" dirty="0" err="1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estruturais</a:t>
            </a:r>
            <a:r>
              <a:rPr lang="en-US" sz="1200" b="0" u="none" strike="noStrike" dirty="0">
                <a:solidFill>
                  <a:srgbClr val="1B2733"/>
                </a:solidFill>
                <a:effectLst/>
                <a:uFillTx/>
                <a:latin typeface="Calibri"/>
                <a:ea typeface="Calibri"/>
              </a:rPr>
              <a:t>;</a:t>
            </a: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B2733"/>
              </a:buClr>
              <a:buFont typeface="Symbol" charset="2"/>
              <a:buChar char=""/>
            </a:pPr>
            <a:endParaRPr lang="pt-B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close_bg.png"/>
          <p:cNvPicPr/>
          <p:nvPr/>
        </p:nvPicPr>
        <p:blipFill>
          <a:blip r:embed="rId3"/>
          <a:srcRect t="5001" b="1054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A2540">
              <a:alpha val="70000"/>
            </a:srgbClr>
          </a:solidFill>
          <a:ln w="12700">
            <a:solidFill>
              <a:srgbClr val="0A2540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640080" y="1005840"/>
            <a:ext cx="7680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FE3F5"/>
                </a:solidFill>
                <a:effectLst/>
                <a:uFillTx/>
                <a:latin typeface="Calibri"/>
                <a:ea typeface="Calibri"/>
              </a:rPr>
              <a:t>Começamos perguntando se a CAIXA enxerga o PIX com confiança.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640080" y="1600200"/>
            <a:ext cx="768060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Não mostramos apenas números. Devolvemos à CAIXA a visão estratégica do PIX.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640080" y="3520440"/>
            <a:ext cx="7863480" cy="9140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868680" y="3520440"/>
            <a:ext cx="7406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</TotalTime>
  <Words>981</Words>
  <Application>Microsoft Office PowerPoint</Application>
  <PresentationFormat>Apresentação na tela (16:9)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Monitoramento PIX – Pitch de impacto</dc:title>
  <dc:subject>PptxGenJS Presentation</dc:subject>
  <dc:creator>Gabriel Figueiredo Gomes</dc:creator>
  <dc:description/>
  <cp:lastModifiedBy>Eduardo Constantino de Oliveira</cp:lastModifiedBy>
  <cp:revision>12</cp:revision>
  <dcterms:created xsi:type="dcterms:W3CDTF">2026-10-21T16:16:11Z</dcterms:created>
  <dcterms:modified xsi:type="dcterms:W3CDTF">2026-10-22T18:34:58Z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4</vt:i4>
  </property>
  <property fmtid="{D5CDD505-2E9C-101B-9397-08002B2CF9AE}" pid="3" name="MSIP_Label_f1a47ad8-907a-4afd-bc2a-6b2ee4f96f0c_ActionId">
    <vt:lpwstr>34d4984e-c7e7-4f43-92fa-0a02a3999685</vt:lpwstr>
  </property>
  <property fmtid="{D5CDD505-2E9C-101B-9397-08002B2CF9AE}" pid="4" name="MSIP_Label_f1a47ad8-907a-4afd-bc2a-6b2ee4f96f0c_ContentBits">
    <vt:lpwstr>0</vt:lpwstr>
  </property>
  <property fmtid="{D5CDD505-2E9C-101B-9397-08002B2CF9AE}" pid="5" name="MSIP_Label_f1a47ad8-907a-4afd-bc2a-6b2ee4f96f0c_Enabled">
    <vt:lpwstr>true</vt:lpwstr>
  </property>
  <property fmtid="{D5CDD505-2E9C-101B-9397-08002B2CF9AE}" pid="6" name="MSIP_Label_f1a47ad8-907a-4afd-bc2a-6b2ee4f96f0c_Method">
    <vt:lpwstr>Privileged</vt:lpwstr>
  </property>
  <property fmtid="{D5CDD505-2E9C-101B-9397-08002B2CF9AE}" pid="7" name="MSIP_Label_f1a47ad8-907a-4afd-bc2a-6b2ee4f96f0c_Name">
    <vt:lpwstr>#EXTERNO_CONFIDENCIAL</vt:lpwstr>
  </property>
  <property fmtid="{D5CDD505-2E9C-101B-9397-08002B2CF9AE}" pid="8" name="MSIP_Label_f1a47ad8-907a-4afd-bc2a-6b2ee4f96f0c_SetDate">
    <vt:lpwstr>2026-10-21T16:16:12Z</vt:lpwstr>
  </property>
  <property fmtid="{D5CDD505-2E9C-101B-9397-08002B2CF9AE}" pid="9" name="MSIP_Label_f1a47ad8-907a-4afd-bc2a-6b2ee4f96f0c_SiteId">
    <vt:lpwstr>ab9bba98-684a-43fb-add8-9c2bebede229</vt:lpwstr>
  </property>
  <property fmtid="{D5CDD505-2E9C-101B-9397-08002B2CF9AE}" pid="10" name="Notes">
    <vt:i4>12</vt:i4>
  </property>
  <property fmtid="{D5CDD505-2E9C-101B-9397-08002B2CF9AE}" pid="11" name="PresentationFormat">
    <vt:lpwstr>Apresentação na tela (16:9)</vt:lpwstr>
  </property>
  <property fmtid="{D5CDD505-2E9C-101B-9397-08002B2CF9AE}" pid="12" name="Slides">
    <vt:i4>12</vt:i4>
  </property>
</Properties>
</file>